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Anton" charset="1" panose="00000500000000000000"/>
      <p:regular r:id="rId26"/>
    </p:embeddedFont>
    <p:embeddedFont>
      <p:font typeface="Monterchi Sans" charset="1" panose="02000503060000020004"/>
      <p:regular r:id="rId27"/>
    </p:embeddedFont>
    <p:embeddedFont>
      <p:font typeface="Monterchi Sans Bold" charset="1" panose="020005030600000200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sp>
        <p:nvSpPr>
          <p:cNvPr name="TextBox 2" id="2"/>
          <p:cNvSpPr txBox="true"/>
          <p:nvPr/>
        </p:nvSpPr>
        <p:spPr>
          <a:xfrm rot="0">
            <a:off x="1319041" y="1889091"/>
            <a:ext cx="15649919" cy="4987924"/>
          </a:xfrm>
          <a:prstGeom prst="rect">
            <a:avLst/>
          </a:prstGeom>
        </p:spPr>
        <p:txBody>
          <a:bodyPr anchor="t" rtlCol="false" tIns="0" lIns="0" bIns="0" rIns="0">
            <a:spAutoFit/>
          </a:bodyPr>
          <a:lstStyle/>
          <a:p>
            <a:pPr algn="ctr">
              <a:lnSpc>
                <a:spcPts val="9699"/>
              </a:lnSpc>
            </a:pPr>
            <a:r>
              <a:rPr lang="en-US" sz="9999">
                <a:solidFill>
                  <a:srgbClr val="5D5340"/>
                </a:solidFill>
                <a:latin typeface="Anton"/>
                <a:ea typeface="Anton"/>
                <a:cs typeface="Anton"/>
                <a:sym typeface="Anton"/>
              </a:rPr>
              <a:t>GO-DRIV</a:t>
            </a:r>
            <a:r>
              <a:rPr lang="en-US" sz="9999">
                <a:solidFill>
                  <a:srgbClr val="5D5340"/>
                </a:solidFill>
                <a:latin typeface="Anton"/>
                <a:ea typeface="Anton"/>
                <a:cs typeface="Anton"/>
                <a:sym typeface="Anton"/>
              </a:rPr>
              <a:t>ES MOBILE APP FOR PASSENGER-VEHICLE REAL-TIME INTERACTION WITH IN-CAMPUS GOLF CAR </a:t>
            </a:r>
          </a:p>
        </p:txBody>
      </p:sp>
      <p:grpSp>
        <p:nvGrpSpPr>
          <p:cNvPr name="Group 3" id="3"/>
          <p:cNvGrpSpPr/>
          <p:nvPr/>
        </p:nvGrpSpPr>
        <p:grpSpPr>
          <a:xfrm rot="-5400000">
            <a:off x="8529984" y="-8356629"/>
            <a:ext cx="1282633" cy="18770658"/>
            <a:chOff x="0" y="0"/>
            <a:chExt cx="337813" cy="4943712"/>
          </a:xfrm>
        </p:grpSpPr>
        <p:sp>
          <p:nvSpPr>
            <p:cNvPr name="Freeform 4" id="4"/>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5" id="5"/>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16424818" y="596299"/>
            <a:ext cx="804162" cy="864802"/>
            <a:chOff x="0" y="0"/>
            <a:chExt cx="211796" cy="227767"/>
          </a:xfrm>
        </p:grpSpPr>
        <p:sp>
          <p:nvSpPr>
            <p:cNvPr name="Freeform 7" id="7"/>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F9F3"/>
            </a:solidFill>
          </p:spPr>
        </p:sp>
        <p:sp>
          <p:nvSpPr>
            <p:cNvPr name="TextBox 8" id="8"/>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5400000">
            <a:off x="8502684" y="926822"/>
            <a:ext cx="1282633" cy="18770658"/>
            <a:chOff x="0" y="0"/>
            <a:chExt cx="337813" cy="4943712"/>
          </a:xfrm>
        </p:grpSpPr>
        <p:sp>
          <p:nvSpPr>
            <p:cNvPr name="Freeform 10" id="10"/>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1" id="11"/>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083217" y="6950261"/>
            <a:ext cx="10121567" cy="1236966"/>
            <a:chOff x="0" y="0"/>
            <a:chExt cx="3325398" cy="406400"/>
          </a:xfrm>
        </p:grpSpPr>
        <p:sp>
          <p:nvSpPr>
            <p:cNvPr name="Freeform 13" id="13"/>
            <p:cNvSpPr/>
            <p:nvPr/>
          </p:nvSpPr>
          <p:spPr>
            <a:xfrm flipH="false" flipV="false" rot="0">
              <a:off x="0" y="0"/>
              <a:ext cx="3325398" cy="406400"/>
            </a:xfrm>
            <a:custGeom>
              <a:avLst/>
              <a:gdLst/>
              <a:ahLst/>
              <a:cxnLst/>
              <a:rect r="r" b="b" t="t" l="l"/>
              <a:pathLst>
                <a:path h="406400" w="3325398">
                  <a:moveTo>
                    <a:pt x="3122198" y="0"/>
                  </a:moveTo>
                  <a:cubicBezTo>
                    <a:pt x="3234422" y="0"/>
                    <a:pt x="3325398" y="90976"/>
                    <a:pt x="3325398" y="203200"/>
                  </a:cubicBezTo>
                  <a:cubicBezTo>
                    <a:pt x="3325398" y="315424"/>
                    <a:pt x="3234422" y="406400"/>
                    <a:pt x="3122198"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745E4D"/>
              </a:solidFill>
              <a:prstDash val="solid"/>
              <a:miter/>
            </a:ln>
          </p:spPr>
        </p:sp>
        <p:sp>
          <p:nvSpPr>
            <p:cNvPr name="TextBox 14" id="14"/>
            <p:cNvSpPr txBox="true"/>
            <p:nvPr/>
          </p:nvSpPr>
          <p:spPr>
            <a:xfrm>
              <a:off x="0" y="-28575"/>
              <a:ext cx="3325398" cy="434975"/>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
        <p:nvSpPr>
          <p:cNvPr name="TextBox 16" id="16"/>
          <p:cNvSpPr txBox="true"/>
          <p:nvPr/>
        </p:nvSpPr>
        <p:spPr>
          <a:xfrm rot="0">
            <a:off x="4884906" y="7068417"/>
            <a:ext cx="5026929" cy="977760"/>
          </a:xfrm>
          <a:prstGeom prst="rect">
            <a:avLst/>
          </a:prstGeom>
        </p:spPr>
        <p:txBody>
          <a:bodyPr anchor="t" rtlCol="false" tIns="0" lIns="0" bIns="0" rIns="0">
            <a:spAutoFit/>
          </a:bodyPr>
          <a:lstStyle/>
          <a:p>
            <a:pPr algn="l">
              <a:lnSpc>
                <a:spcPts val="8162"/>
              </a:lnSpc>
            </a:pPr>
            <a:r>
              <a:rPr lang="en-US" sz="5830">
                <a:solidFill>
                  <a:srgbClr val="414B3B"/>
                </a:solidFill>
                <a:latin typeface="Monterchi Sans"/>
                <a:ea typeface="Monterchi Sans"/>
                <a:cs typeface="Monterchi Sans"/>
                <a:sym typeface="Monterchi Sans"/>
              </a:rPr>
              <a:t>Presentation by</a:t>
            </a:r>
          </a:p>
        </p:txBody>
      </p:sp>
      <p:sp>
        <p:nvSpPr>
          <p:cNvPr name="TextBox 17" id="17"/>
          <p:cNvSpPr txBox="true"/>
          <p:nvPr/>
        </p:nvSpPr>
        <p:spPr>
          <a:xfrm rot="0">
            <a:off x="15514710" y="782955"/>
            <a:ext cx="1163909" cy="563881"/>
          </a:xfrm>
          <a:prstGeom prst="rect">
            <a:avLst/>
          </a:prstGeom>
        </p:spPr>
        <p:txBody>
          <a:bodyPr anchor="t" rtlCol="false" tIns="0" lIns="0" bIns="0" rIns="0">
            <a:spAutoFit/>
          </a:bodyPr>
          <a:lstStyle/>
          <a:p>
            <a:pPr algn="l">
              <a:lnSpc>
                <a:spcPts val="4619"/>
              </a:lnSpc>
            </a:pPr>
            <a:r>
              <a:rPr lang="en-US" sz="3299">
                <a:solidFill>
                  <a:srgbClr val="FFEBEB"/>
                </a:solidFill>
                <a:latin typeface="Monterchi Sans"/>
                <a:ea typeface="Monterchi Sans"/>
                <a:cs typeface="Monterchi Sans"/>
                <a:sym typeface="Monterchi Sans"/>
              </a:rPr>
              <a:t>Page</a:t>
            </a:r>
          </a:p>
        </p:txBody>
      </p:sp>
      <p:sp>
        <p:nvSpPr>
          <p:cNvPr name="TextBox 18" id="18"/>
          <p:cNvSpPr txBox="true"/>
          <p:nvPr/>
        </p:nvSpPr>
        <p:spPr>
          <a:xfrm rot="0">
            <a:off x="8575098" y="7068417"/>
            <a:ext cx="4827995" cy="977760"/>
          </a:xfrm>
          <a:prstGeom prst="rect">
            <a:avLst/>
          </a:prstGeom>
        </p:spPr>
        <p:txBody>
          <a:bodyPr anchor="t" rtlCol="false" tIns="0" lIns="0" bIns="0" rIns="0">
            <a:spAutoFit/>
          </a:bodyPr>
          <a:lstStyle/>
          <a:p>
            <a:pPr algn="r">
              <a:lnSpc>
                <a:spcPts val="8162"/>
              </a:lnSpc>
            </a:pPr>
            <a:r>
              <a:rPr lang="en-US" b="true" sz="5830">
                <a:solidFill>
                  <a:srgbClr val="414B3B"/>
                </a:solidFill>
                <a:latin typeface="Monterchi Sans Bold"/>
                <a:ea typeface="Monterchi Sans Bold"/>
                <a:cs typeface="Monterchi Sans Bold"/>
                <a:sym typeface="Monterchi Sans Bold"/>
              </a:rPr>
              <a:t>Manuella Ehab</a:t>
            </a:r>
          </a:p>
        </p:txBody>
      </p:sp>
      <p:sp>
        <p:nvSpPr>
          <p:cNvPr name="TextBox 19" id="19"/>
          <p:cNvSpPr txBox="true"/>
          <p:nvPr/>
        </p:nvSpPr>
        <p:spPr>
          <a:xfrm rot="0">
            <a:off x="16471512" y="691833"/>
            <a:ext cx="710773" cy="679452"/>
          </a:xfrm>
          <a:prstGeom prst="rect">
            <a:avLst/>
          </a:prstGeom>
        </p:spPr>
        <p:txBody>
          <a:bodyPr anchor="t" rtlCol="false" tIns="0" lIns="0" bIns="0" rIns="0">
            <a:spAutoFit/>
          </a:bodyPr>
          <a:lstStyle/>
          <a:p>
            <a:pPr algn="ctr">
              <a:lnSpc>
                <a:spcPts val="5599"/>
              </a:lnSpc>
            </a:pPr>
            <a:r>
              <a:rPr lang="en-US" b="true" sz="3999">
                <a:solidFill>
                  <a:srgbClr val="5D5340"/>
                </a:solidFill>
                <a:latin typeface="Monterchi Sans Bold"/>
                <a:ea typeface="Monterchi Sans Bold"/>
                <a:cs typeface="Monterchi Sans Bold"/>
                <a:sym typeface="Monterchi Sans Bold"/>
              </a:rPr>
              <a:t>01</a:t>
            </a:r>
          </a:p>
        </p:txBody>
      </p:sp>
      <p:grpSp>
        <p:nvGrpSpPr>
          <p:cNvPr name="Group 20" id="20"/>
          <p:cNvGrpSpPr/>
          <p:nvPr/>
        </p:nvGrpSpPr>
        <p:grpSpPr>
          <a:xfrm rot="0">
            <a:off x="5424415" y="8406302"/>
            <a:ext cx="7439170" cy="909148"/>
            <a:chOff x="0" y="0"/>
            <a:chExt cx="3325398" cy="406400"/>
          </a:xfrm>
        </p:grpSpPr>
        <p:sp>
          <p:nvSpPr>
            <p:cNvPr name="Freeform 21" id="21"/>
            <p:cNvSpPr/>
            <p:nvPr/>
          </p:nvSpPr>
          <p:spPr>
            <a:xfrm flipH="false" flipV="false" rot="0">
              <a:off x="0" y="0"/>
              <a:ext cx="3325398" cy="406400"/>
            </a:xfrm>
            <a:custGeom>
              <a:avLst/>
              <a:gdLst/>
              <a:ahLst/>
              <a:cxnLst/>
              <a:rect r="r" b="b" t="t" l="l"/>
              <a:pathLst>
                <a:path h="406400" w="3325398">
                  <a:moveTo>
                    <a:pt x="3122198" y="0"/>
                  </a:moveTo>
                  <a:cubicBezTo>
                    <a:pt x="3234422" y="0"/>
                    <a:pt x="3325398" y="90976"/>
                    <a:pt x="3325398" y="203200"/>
                  </a:cubicBezTo>
                  <a:cubicBezTo>
                    <a:pt x="3325398" y="315424"/>
                    <a:pt x="3234422" y="406400"/>
                    <a:pt x="3122198"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745E4D"/>
              </a:solidFill>
              <a:prstDash val="solid"/>
              <a:miter/>
            </a:ln>
          </p:spPr>
        </p:sp>
        <p:sp>
          <p:nvSpPr>
            <p:cNvPr name="TextBox 22" id="22"/>
            <p:cNvSpPr txBox="true"/>
            <p:nvPr/>
          </p:nvSpPr>
          <p:spPr>
            <a:xfrm>
              <a:off x="0" y="-28575"/>
              <a:ext cx="3325398" cy="434975"/>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6013643" y="8493952"/>
            <a:ext cx="3694703" cy="717828"/>
          </a:xfrm>
          <a:prstGeom prst="rect">
            <a:avLst/>
          </a:prstGeom>
        </p:spPr>
        <p:txBody>
          <a:bodyPr anchor="t" rtlCol="false" tIns="0" lIns="0" bIns="0" rIns="0">
            <a:spAutoFit/>
          </a:bodyPr>
          <a:lstStyle/>
          <a:p>
            <a:pPr algn="l">
              <a:lnSpc>
                <a:spcPts val="5998"/>
              </a:lnSpc>
            </a:pPr>
            <a:r>
              <a:rPr lang="en-US" sz="4284">
                <a:solidFill>
                  <a:srgbClr val="414B3B"/>
                </a:solidFill>
                <a:latin typeface="Monterchi Sans"/>
                <a:ea typeface="Monterchi Sans"/>
                <a:cs typeface="Monterchi Sans"/>
                <a:sym typeface="Monterchi Sans"/>
              </a:rPr>
              <a:t>Supervised by</a:t>
            </a:r>
          </a:p>
        </p:txBody>
      </p:sp>
      <p:sp>
        <p:nvSpPr>
          <p:cNvPr name="TextBox 24" id="24"/>
          <p:cNvSpPr txBox="true"/>
          <p:nvPr/>
        </p:nvSpPr>
        <p:spPr>
          <a:xfrm rot="0">
            <a:off x="8725867" y="8493952"/>
            <a:ext cx="3548490" cy="717828"/>
          </a:xfrm>
          <a:prstGeom prst="rect">
            <a:avLst/>
          </a:prstGeom>
        </p:spPr>
        <p:txBody>
          <a:bodyPr anchor="t" rtlCol="false" tIns="0" lIns="0" bIns="0" rIns="0">
            <a:spAutoFit/>
          </a:bodyPr>
          <a:lstStyle/>
          <a:p>
            <a:pPr algn="r">
              <a:lnSpc>
                <a:spcPts val="5998"/>
              </a:lnSpc>
            </a:pPr>
            <a:r>
              <a:rPr lang="en-US" b="true" sz="4284">
                <a:solidFill>
                  <a:srgbClr val="414B3B"/>
                </a:solidFill>
                <a:latin typeface="Monterchi Sans Bold"/>
                <a:ea typeface="Monterchi Sans Bold"/>
                <a:cs typeface="Monterchi Sans Bold"/>
                <a:sym typeface="Monterchi Sans Bold"/>
              </a:rPr>
              <a:t>Dr.Catherine Elias</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sp>
        <p:nvSpPr>
          <p:cNvPr name="TextBox 2" id="2"/>
          <p:cNvSpPr txBox="true"/>
          <p:nvPr/>
        </p:nvSpPr>
        <p:spPr>
          <a:xfrm rot="0">
            <a:off x="1596702" y="2534055"/>
            <a:ext cx="9047317" cy="2429984"/>
          </a:xfrm>
          <a:prstGeom prst="rect">
            <a:avLst/>
          </a:prstGeom>
        </p:spPr>
        <p:txBody>
          <a:bodyPr anchor="t" rtlCol="false" tIns="0" lIns="0" bIns="0" rIns="0">
            <a:spAutoFit/>
          </a:bodyPr>
          <a:lstStyle/>
          <a:p>
            <a:pPr algn="l">
              <a:lnSpc>
                <a:spcPts val="19888"/>
              </a:lnSpc>
            </a:pPr>
            <a:r>
              <a:rPr lang="en-US" sz="14206">
                <a:solidFill>
                  <a:srgbClr val="AB8742"/>
                </a:solidFill>
                <a:latin typeface="Anton"/>
                <a:ea typeface="Anton"/>
                <a:cs typeface="Anton"/>
                <a:sym typeface="Anton"/>
              </a:rPr>
              <a:t>OVERVIEW</a:t>
            </a:r>
          </a:p>
        </p:txBody>
      </p:sp>
      <p:sp>
        <p:nvSpPr>
          <p:cNvPr name="TextBox 3" id="3"/>
          <p:cNvSpPr txBox="true"/>
          <p:nvPr/>
        </p:nvSpPr>
        <p:spPr>
          <a:xfrm rot="0">
            <a:off x="1596702" y="5221658"/>
            <a:ext cx="4480960" cy="705485"/>
          </a:xfrm>
          <a:prstGeom prst="rect">
            <a:avLst/>
          </a:prstGeom>
        </p:spPr>
        <p:txBody>
          <a:bodyPr anchor="t" rtlCol="false" tIns="0" lIns="0" bIns="0" rIns="0">
            <a:spAutoFit/>
          </a:bodyPr>
          <a:lstStyle/>
          <a:p>
            <a:pPr algn="l" marL="885187" indent="-442594" lvl="1">
              <a:lnSpc>
                <a:spcPts val="5739"/>
              </a:lnSpc>
              <a:buFont typeface="Arial"/>
              <a:buChar char="•"/>
            </a:pPr>
            <a:r>
              <a:rPr lang="en-US" b="true" sz="4099">
                <a:solidFill>
                  <a:srgbClr val="414B3B"/>
                </a:solidFill>
                <a:latin typeface="Monterchi Sans Bold"/>
                <a:ea typeface="Monterchi Sans Bold"/>
                <a:cs typeface="Monterchi Sans Bold"/>
                <a:sym typeface="Monterchi Sans Bold"/>
              </a:rPr>
              <a:t>Introduction</a:t>
            </a:r>
          </a:p>
        </p:txBody>
      </p:sp>
      <p:sp>
        <p:nvSpPr>
          <p:cNvPr name="TextBox 4" id="4"/>
          <p:cNvSpPr txBox="true"/>
          <p:nvPr/>
        </p:nvSpPr>
        <p:spPr>
          <a:xfrm rot="0">
            <a:off x="1596702" y="6107115"/>
            <a:ext cx="4831660" cy="705485"/>
          </a:xfrm>
          <a:prstGeom prst="rect">
            <a:avLst/>
          </a:prstGeom>
        </p:spPr>
        <p:txBody>
          <a:bodyPr anchor="t" rtlCol="false" tIns="0" lIns="0" bIns="0" rIns="0">
            <a:spAutoFit/>
          </a:bodyPr>
          <a:lstStyle/>
          <a:p>
            <a:pPr algn="l" marL="885187" indent="-442594" lvl="1">
              <a:lnSpc>
                <a:spcPts val="5739"/>
              </a:lnSpc>
              <a:buFont typeface="Arial"/>
              <a:buChar char="•"/>
            </a:pPr>
            <a:r>
              <a:rPr lang="en-US" b="true" sz="4099">
                <a:solidFill>
                  <a:srgbClr val="414B3B"/>
                </a:solidFill>
                <a:latin typeface="Monterchi Sans Bold"/>
                <a:ea typeface="Monterchi Sans Bold"/>
                <a:cs typeface="Monterchi Sans Bold"/>
                <a:sym typeface="Monterchi Sans Bold"/>
              </a:rPr>
              <a:t>Problem Formulation</a:t>
            </a:r>
          </a:p>
        </p:txBody>
      </p:sp>
      <p:sp>
        <p:nvSpPr>
          <p:cNvPr name="TextBox 5" id="5"/>
          <p:cNvSpPr txBox="true"/>
          <p:nvPr/>
        </p:nvSpPr>
        <p:spPr>
          <a:xfrm rot="0">
            <a:off x="1596702" y="6994210"/>
            <a:ext cx="5241454" cy="705485"/>
          </a:xfrm>
          <a:prstGeom prst="rect">
            <a:avLst/>
          </a:prstGeom>
        </p:spPr>
        <p:txBody>
          <a:bodyPr anchor="t" rtlCol="false" tIns="0" lIns="0" bIns="0" rIns="0">
            <a:spAutoFit/>
          </a:bodyPr>
          <a:lstStyle/>
          <a:p>
            <a:pPr algn="l" marL="885187" indent="-442594" lvl="1">
              <a:lnSpc>
                <a:spcPts val="5739"/>
              </a:lnSpc>
              <a:buFont typeface="Arial"/>
              <a:buChar char="•"/>
            </a:pPr>
            <a:r>
              <a:rPr lang="en-US" b="true" sz="4099">
                <a:solidFill>
                  <a:srgbClr val="414B3B"/>
                </a:solidFill>
                <a:latin typeface="Monterchi Sans Bold"/>
                <a:ea typeface="Monterchi Sans Bold"/>
                <a:cs typeface="Monterchi Sans Bold"/>
                <a:sym typeface="Monterchi Sans Bold"/>
              </a:rPr>
              <a:t>Literary Review </a:t>
            </a:r>
          </a:p>
        </p:txBody>
      </p:sp>
      <p:sp>
        <p:nvSpPr>
          <p:cNvPr name="TextBox 6" id="6"/>
          <p:cNvSpPr txBox="true"/>
          <p:nvPr/>
        </p:nvSpPr>
        <p:spPr>
          <a:xfrm rot="0">
            <a:off x="6838155" y="5222560"/>
            <a:ext cx="4480960" cy="705485"/>
          </a:xfrm>
          <a:prstGeom prst="rect">
            <a:avLst/>
          </a:prstGeom>
        </p:spPr>
        <p:txBody>
          <a:bodyPr anchor="t" rtlCol="false" tIns="0" lIns="0" bIns="0" rIns="0">
            <a:spAutoFit/>
          </a:bodyPr>
          <a:lstStyle/>
          <a:p>
            <a:pPr algn="l" marL="885187" indent="-442594" lvl="1">
              <a:lnSpc>
                <a:spcPts val="5739"/>
              </a:lnSpc>
              <a:buFont typeface="Arial"/>
              <a:buChar char="•"/>
            </a:pPr>
            <a:r>
              <a:rPr lang="en-US" b="true" sz="4099">
                <a:solidFill>
                  <a:srgbClr val="414B3B"/>
                </a:solidFill>
                <a:latin typeface="Monterchi Sans Bold"/>
                <a:ea typeface="Monterchi Sans Bold"/>
                <a:cs typeface="Monterchi Sans Bold"/>
                <a:sym typeface="Monterchi Sans Bold"/>
              </a:rPr>
              <a:t>Research Gap</a:t>
            </a:r>
          </a:p>
        </p:txBody>
      </p:sp>
      <p:sp>
        <p:nvSpPr>
          <p:cNvPr name="TextBox 7" id="7"/>
          <p:cNvSpPr txBox="true"/>
          <p:nvPr/>
        </p:nvSpPr>
        <p:spPr>
          <a:xfrm rot="0">
            <a:off x="6838155" y="6107115"/>
            <a:ext cx="4480960" cy="705485"/>
          </a:xfrm>
          <a:prstGeom prst="rect">
            <a:avLst/>
          </a:prstGeom>
        </p:spPr>
        <p:txBody>
          <a:bodyPr anchor="t" rtlCol="false" tIns="0" lIns="0" bIns="0" rIns="0">
            <a:spAutoFit/>
          </a:bodyPr>
          <a:lstStyle/>
          <a:p>
            <a:pPr algn="l" marL="885187" indent="-442594" lvl="1">
              <a:lnSpc>
                <a:spcPts val="5739"/>
              </a:lnSpc>
              <a:buFont typeface="Arial"/>
              <a:buChar char="•"/>
            </a:pPr>
            <a:r>
              <a:rPr lang="en-US" b="true" sz="4099">
                <a:solidFill>
                  <a:srgbClr val="414B3B"/>
                </a:solidFill>
                <a:latin typeface="Monterchi Sans Bold"/>
                <a:ea typeface="Monterchi Sans Bold"/>
                <a:cs typeface="Monterchi Sans Bold"/>
                <a:sym typeface="Monterchi Sans Bold"/>
              </a:rPr>
              <a:t>Objectives</a:t>
            </a:r>
          </a:p>
        </p:txBody>
      </p:sp>
      <p:sp>
        <p:nvSpPr>
          <p:cNvPr name="TextBox 8" id="8"/>
          <p:cNvSpPr txBox="true"/>
          <p:nvPr/>
        </p:nvSpPr>
        <p:spPr>
          <a:xfrm rot="0">
            <a:off x="6838155" y="6994210"/>
            <a:ext cx="4480960" cy="705485"/>
          </a:xfrm>
          <a:prstGeom prst="rect">
            <a:avLst/>
          </a:prstGeom>
        </p:spPr>
        <p:txBody>
          <a:bodyPr anchor="t" rtlCol="false" tIns="0" lIns="0" bIns="0" rIns="0">
            <a:spAutoFit/>
          </a:bodyPr>
          <a:lstStyle/>
          <a:p>
            <a:pPr algn="l" marL="885187" indent="-442594" lvl="1">
              <a:lnSpc>
                <a:spcPts val="5739"/>
              </a:lnSpc>
              <a:buFont typeface="Arial"/>
              <a:buChar char="•"/>
            </a:pPr>
            <a:r>
              <a:rPr lang="en-US" b="true" sz="4099">
                <a:solidFill>
                  <a:srgbClr val="414B3B"/>
                </a:solidFill>
                <a:latin typeface="Monterchi Sans Bold"/>
                <a:ea typeface="Monterchi Sans Bold"/>
                <a:cs typeface="Monterchi Sans Bold"/>
                <a:sym typeface="Monterchi Sans Bold"/>
              </a:rPr>
              <a:t>Methodology</a:t>
            </a:r>
          </a:p>
        </p:txBody>
      </p:sp>
      <p:sp>
        <p:nvSpPr>
          <p:cNvPr name="TextBox 9" id="9"/>
          <p:cNvSpPr txBox="true"/>
          <p:nvPr/>
        </p:nvSpPr>
        <p:spPr>
          <a:xfrm rot="0">
            <a:off x="12264940" y="5221658"/>
            <a:ext cx="4480960" cy="705485"/>
          </a:xfrm>
          <a:prstGeom prst="rect">
            <a:avLst/>
          </a:prstGeom>
        </p:spPr>
        <p:txBody>
          <a:bodyPr anchor="t" rtlCol="false" tIns="0" lIns="0" bIns="0" rIns="0">
            <a:spAutoFit/>
          </a:bodyPr>
          <a:lstStyle/>
          <a:p>
            <a:pPr algn="l" marL="885187" indent="-442594" lvl="1">
              <a:lnSpc>
                <a:spcPts val="5739"/>
              </a:lnSpc>
              <a:buFont typeface="Arial"/>
              <a:buChar char="•"/>
            </a:pPr>
            <a:r>
              <a:rPr lang="en-US" b="true" sz="4099">
                <a:solidFill>
                  <a:srgbClr val="414B3B"/>
                </a:solidFill>
                <a:latin typeface="Monterchi Sans Bold"/>
                <a:ea typeface="Monterchi Sans Bold"/>
                <a:cs typeface="Monterchi Sans Bold"/>
                <a:sym typeface="Monterchi Sans Bold"/>
              </a:rPr>
              <a:t>Result</a:t>
            </a:r>
          </a:p>
        </p:txBody>
      </p:sp>
      <p:sp>
        <p:nvSpPr>
          <p:cNvPr name="TextBox 10" id="10"/>
          <p:cNvSpPr txBox="true"/>
          <p:nvPr/>
        </p:nvSpPr>
        <p:spPr>
          <a:xfrm rot="0">
            <a:off x="12264940" y="6107115"/>
            <a:ext cx="4480960" cy="705485"/>
          </a:xfrm>
          <a:prstGeom prst="rect">
            <a:avLst/>
          </a:prstGeom>
        </p:spPr>
        <p:txBody>
          <a:bodyPr anchor="t" rtlCol="false" tIns="0" lIns="0" bIns="0" rIns="0">
            <a:spAutoFit/>
          </a:bodyPr>
          <a:lstStyle/>
          <a:p>
            <a:pPr algn="l" marL="885187" indent="-442594" lvl="1">
              <a:lnSpc>
                <a:spcPts val="5739"/>
              </a:lnSpc>
              <a:buFont typeface="Arial"/>
              <a:buChar char="•"/>
            </a:pPr>
            <a:r>
              <a:rPr lang="en-US" b="true" sz="4099">
                <a:solidFill>
                  <a:srgbClr val="414B3B"/>
                </a:solidFill>
                <a:latin typeface="Monterchi Sans Bold"/>
                <a:ea typeface="Monterchi Sans Bold"/>
                <a:cs typeface="Monterchi Sans Bold"/>
                <a:sym typeface="Monterchi Sans Bold"/>
              </a:rPr>
              <a:t>Conclusion</a:t>
            </a:r>
          </a:p>
        </p:txBody>
      </p:sp>
      <p:sp>
        <p:nvSpPr>
          <p:cNvPr name="TextBox 11" id="11"/>
          <p:cNvSpPr txBox="true"/>
          <p:nvPr/>
        </p:nvSpPr>
        <p:spPr>
          <a:xfrm rot="0">
            <a:off x="12264940" y="6994210"/>
            <a:ext cx="4561959" cy="1429385"/>
          </a:xfrm>
          <a:prstGeom prst="rect">
            <a:avLst/>
          </a:prstGeom>
        </p:spPr>
        <p:txBody>
          <a:bodyPr anchor="t" rtlCol="false" tIns="0" lIns="0" bIns="0" rIns="0">
            <a:spAutoFit/>
          </a:bodyPr>
          <a:lstStyle/>
          <a:p>
            <a:pPr algn="l" marL="885187" indent="-442594" lvl="1">
              <a:lnSpc>
                <a:spcPts val="5739"/>
              </a:lnSpc>
              <a:buFont typeface="Arial"/>
              <a:buChar char="•"/>
            </a:pPr>
            <a:r>
              <a:rPr lang="en-US" b="true" sz="4099">
                <a:solidFill>
                  <a:srgbClr val="414B3B"/>
                </a:solidFill>
                <a:latin typeface="Monterchi Sans Bold"/>
                <a:ea typeface="Monterchi Sans Bold"/>
                <a:cs typeface="Monterchi Sans Bold"/>
                <a:sym typeface="Monterchi Sans Bold"/>
              </a:rPr>
              <a:t>Fututre </a:t>
            </a:r>
            <a:r>
              <a:rPr lang="en-US" b="true" sz="4099">
                <a:solidFill>
                  <a:srgbClr val="414B3B"/>
                </a:solidFill>
                <a:latin typeface="Monterchi Sans Bold"/>
                <a:ea typeface="Monterchi Sans Bold"/>
                <a:cs typeface="Monterchi Sans Bold"/>
                <a:sym typeface="Monterchi Sans Bold"/>
              </a:rPr>
              <a:t>Recommendations</a:t>
            </a:r>
          </a:p>
        </p:txBody>
      </p:sp>
      <p:grpSp>
        <p:nvGrpSpPr>
          <p:cNvPr name="Group 12" id="12"/>
          <p:cNvGrpSpPr/>
          <p:nvPr/>
        </p:nvGrpSpPr>
        <p:grpSpPr>
          <a:xfrm rot="-5400000">
            <a:off x="8529984" y="-8356629"/>
            <a:ext cx="1282633" cy="18770658"/>
            <a:chOff x="0" y="0"/>
            <a:chExt cx="337813" cy="4943712"/>
          </a:xfrm>
        </p:grpSpPr>
        <p:sp>
          <p:nvSpPr>
            <p:cNvPr name="Freeform 13" id="1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4" id="14"/>
            <p:cNvSpPr txBox="true"/>
            <p:nvPr/>
          </p:nvSpPr>
          <p:spPr>
            <a:xfrm>
              <a:off x="0" y="-47625"/>
              <a:ext cx="337813" cy="4991337"/>
            </a:xfrm>
            <a:prstGeom prst="rect">
              <a:avLst/>
            </a:prstGeom>
          </p:spPr>
          <p:txBody>
            <a:bodyPr anchor="ctr" rtlCol="false" tIns="50800" lIns="50800" bIns="50800" rIns="50800"/>
            <a:lstStyle/>
            <a:p>
              <a:pPr algn="ctr">
                <a:lnSpc>
                  <a:spcPts val="3079"/>
                </a:lnSpc>
              </a:pPr>
            </a:p>
          </p:txBody>
        </p:sp>
      </p:grpSp>
      <p:grpSp>
        <p:nvGrpSpPr>
          <p:cNvPr name="Group 15" id="15"/>
          <p:cNvGrpSpPr/>
          <p:nvPr/>
        </p:nvGrpSpPr>
        <p:grpSpPr>
          <a:xfrm rot="-5400000">
            <a:off x="16424818" y="596299"/>
            <a:ext cx="804162" cy="864802"/>
            <a:chOff x="0" y="0"/>
            <a:chExt cx="211796" cy="227767"/>
          </a:xfrm>
        </p:grpSpPr>
        <p:sp>
          <p:nvSpPr>
            <p:cNvPr name="Freeform 16" id="1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17" id="17"/>
            <p:cNvSpPr txBox="true"/>
            <p:nvPr/>
          </p:nvSpPr>
          <p:spPr>
            <a:xfrm>
              <a:off x="0" y="-47625"/>
              <a:ext cx="211796" cy="275392"/>
            </a:xfrm>
            <a:prstGeom prst="rect">
              <a:avLst/>
            </a:prstGeom>
          </p:spPr>
          <p:txBody>
            <a:bodyPr anchor="ctr" rtlCol="false" tIns="50800" lIns="50800" bIns="50800" rIns="50800"/>
            <a:lstStyle/>
            <a:p>
              <a:pPr algn="ctr">
                <a:lnSpc>
                  <a:spcPts val="3079"/>
                </a:lnSpc>
              </a:pPr>
            </a:p>
          </p:txBody>
        </p:sp>
      </p:grpSp>
      <p:sp>
        <p:nvSpPr>
          <p:cNvPr name="TextBox 18" id="18"/>
          <p:cNvSpPr txBox="true"/>
          <p:nvPr/>
        </p:nvSpPr>
        <p:spPr>
          <a:xfrm rot="0">
            <a:off x="15514710" y="782955"/>
            <a:ext cx="1163909" cy="580391"/>
          </a:xfrm>
          <a:prstGeom prst="rect">
            <a:avLst/>
          </a:prstGeom>
        </p:spPr>
        <p:txBody>
          <a:bodyPr anchor="t" rtlCol="false" tIns="0" lIns="0" bIns="0" rIns="0">
            <a:spAutoFit/>
          </a:bodyPr>
          <a:lstStyle/>
          <a:p>
            <a:pPr algn="l">
              <a:lnSpc>
                <a:spcPts val="4759"/>
              </a:lnSpc>
            </a:pPr>
            <a:r>
              <a:rPr lang="en-US" sz="3399">
                <a:solidFill>
                  <a:srgbClr val="FFF9F3"/>
                </a:solidFill>
                <a:latin typeface="Monterchi Sans"/>
                <a:ea typeface="Monterchi Sans"/>
                <a:cs typeface="Monterchi Sans"/>
                <a:sym typeface="Monterchi Sans"/>
              </a:rPr>
              <a:t>Page</a:t>
            </a:r>
          </a:p>
        </p:txBody>
      </p:sp>
      <p:sp>
        <p:nvSpPr>
          <p:cNvPr name="TextBox 19" id="19"/>
          <p:cNvSpPr txBox="true"/>
          <p:nvPr/>
        </p:nvSpPr>
        <p:spPr>
          <a:xfrm rot="0">
            <a:off x="16471512" y="710883"/>
            <a:ext cx="710773" cy="738507"/>
          </a:xfrm>
          <a:prstGeom prst="rect">
            <a:avLst/>
          </a:prstGeom>
        </p:spPr>
        <p:txBody>
          <a:bodyPr anchor="t" rtlCol="false" tIns="0" lIns="0" bIns="0" rIns="0">
            <a:spAutoFit/>
          </a:bodyPr>
          <a:lstStyle/>
          <a:p>
            <a:pPr algn="ctr" marL="0" indent="0" lvl="0">
              <a:lnSpc>
                <a:spcPts val="6019"/>
              </a:lnSpc>
              <a:spcBef>
                <a:spcPct val="0"/>
              </a:spcBef>
            </a:pPr>
            <a:r>
              <a:rPr lang="en-US" b="true" sz="4299" strike="noStrike" u="none">
                <a:solidFill>
                  <a:srgbClr val="5D5340"/>
                </a:solidFill>
                <a:latin typeface="Monterchi Sans Bold"/>
                <a:ea typeface="Monterchi Sans Bold"/>
                <a:cs typeface="Monterchi Sans Bold"/>
                <a:sym typeface="Monterchi Sans Bold"/>
              </a:rPr>
              <a:t>02</a:t>
            </a:r>
          </a:p>
        </p:txBody>
      </p:sp>
      <p:grpSp>
        <p:nvGrpSpPr>
          <p:cNvPr name="Group 20" id="20"/>
          <p:cNvGrpSpPr/>
          <p:nvPr/>
        </p:nvGrpSpPr>
        <p:grpSpPr>
          <a:xfrm rot="-5400000">
            <a:off x="8502684" y="926822"/>
            <a:ext cx="1282633" cy="18770658"/>
            <a:chOff x="0" y="0"/>
            <a:chExt cx="337813" cy="4943712"/>
          </a:xfrm>
        </p:grpSpPr>
        <p:sp>
          <p:nvSpPr>
            <p:cNvPr name="Freeform 21" id="21"/>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22" id="22"/>
            <p:cNvSpPr txBox="true"/>
            <p:nvPr/>
          </p:nvSpPr>
          <p:spPr>
            <a:xfrm>
              <a:off x="0" y="-47625"/>
              <a:ext cx="337813" cy="4991337"/>
            </a:xfrm>
            <a:prstGeom prst="rect">
              <a:avLst/>
            </a:prstGeom>
          </p:spPr>
          <p:txBody>
            <a:bodyPr anchor="ctr" rtlCol="false" tIns="50800" lIns="50800" bIns="50800" rIns="50800"/>
            <a:lstStyle/>
            <a:p>
              <a:pPr algn="ctr">
                <a:lnSpc>
                  <a:spcPts val="3079"/>
                </a:lnSpc>
              </a:pPr>
            </a:p>
          </p:txBody>
        </p:sp>
      </p:grpSp>
      <p:sp>
        <p:nvSpPr>
          <p:cNvPr name="TextBox 23" id="23"/>
          <p:cNvSpPr txBox="true"/>
          <p:nvPr/>
        </p:nvSpPr>
        <p:spPr>
          <a:xfrm rot="0">
            <a:off x="1028700" y="729933"/>
            <a:ext cx="7232789" cy="613410"/>
          </a:xfrm>
          <a:prstGeom prst="rect">
            <a:avLst/>
          </a:prstGeom>
        </p:spPr>
        <p:txBody>
          <a:bodyPr anchor="t" rtlCol="false" tIns="0" lIns="0" bIns="0" rIns="0">
            <a:spAutoFit/>
          </a:bodyPr>
          <a:lstStyle/>
          <a:p>
            <a:pPr algn="l">
              <a:lnSpc>
                <a:spcPts val="5040"/>
              </a:lnSpc>
            </a:pPr>
            <a:r>
              <a:rPr lang="en-US" sz="3600">
                <a:solidFill>
                  <a:srgbClr val="FFEBEB"/>
                </a:solidFill>
                <a:latin typeface="Monterchi Sans"/>
                <a:ea typeface="Monterchi Sans"/>
                <a:cs typeface="Monterchi Sans"/>
                <a:sym typeface="Monterchi Sans"/>
              </a:rPr>
              <a:t>German University in Cairo | 2025</a:t>
            </a: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619645" y="1670016"/>
            <a:ext cx="7668355" cy="8000818"/>
            <a:chOff x="0" y="0"/>
            <a:chExt cx="1188029" cy="1239536"/>
          </a:xfrm>
        </p:grpSpPr>
        <p:sp>
          <p:nvSpPr>
            <p:cNvPr name="Freeform 12" id="12"/>
            <p:cNvSpPr/>
            <p:nvPr/>
          </p:nvSpPr>
          <p:spPr>
            <a:xfrm flipH="false" flipV="false" rot="0">
              <a:off x="0" y="0"/>
              <a:ext cx="1188029" cy="1239536"/>
            </a:xfrm>
            <a:custGeom>
              <a:avLst/>
              <a:gdLst/>
              <a:ahLst/>
              <a:cxnLst/>
              <a:rect r="r" b="b" t="t" l="l"/>
              <a:pathLst>
                <a:path h="1239536" w="1188029">
                  <a:moveTo>
                    <a:pt x="0" y="0"/>
                  </a:moveTo>
                  <a:lnTo>
                    <a:pt x="1188029" y="0"/>
                  </a:lnTo>
                  <a:lnTo>
                    <a:pt x="1188029" y="1239536"/>
                  </a:lnTo>
                  <a:lnTo>
                    <a:pt x="0" y="1239536"/>
                  </a:lnTo>
                  <a:close/>
                </a:path>
              </a:pathLst>
            </a:custGeom>
            <a:blipFill>
              <a:blip r:embed="rId2"/>
              <a:stretch>
                <a:fillRect l="-5145" t="0" r="-51456" b="0"/>
              </a:stretch>
            </a:blipFill>
          </p:spPr>
        </p:sp>
      </p:grpSp>
      <p:sp>
        <p:nvSpPr>
          <p:cNvPr name="TextBox 13" id="13"/>
          <p:cNvSpPr txBox="true"/>
          <p:nvPr/>
        </p:nvSpPr>
        <p:spPr>
          <a:xfrm rot="0">
            <a:off x="-3454245" y="1622391"/>
            <a:ext cx="13180039" cy="1450976"/>
          </a:xfrm>
          <a:prstGeom prst="rect">
            <a:avLst/>
          </a:prstGeom>
        </p:spPr>
        <p:txBody>
          <a:bodyPr anchor="t" rtlCol="false" tIns="0" lIns="0" bIns="0" rIns="0">
            <a:spAutoFit/>
          </a:bodyPr>
          <a:lstStyle/>
          <a:p>
            <a:pPr algn="ctr">
              <a:lnSpc>
                <a:spcPts val="11899"/>
              </a:lnSpc>
            </a:pPr>
            <a:r>
              <a:rPr lang="en-US" sz="8499">
                <a:solidFill>
                  <a:srgbClr val="5D5340"/>
                </a:solidFill>
                <a:latin typeface="Anton"/>
                <a:ea typeface="Anton"/>
                <a:cs typeface="Anton"/>
                <a:sym typeface="Anton"/>
              </a:rPr>
              <a:t>INTRODUCTION</a:t>
            </a:r>
          </a:p>
        </p:txBody>
      </p:sp>
      <p:sp>
        <p:nvSpPr>
          <p:cNvPr name="TextBox 14" id="14"/>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F9F3"/>
                </a:solidFill>
                <a:latin typeface="Monterchi Sans"/>
                <a:ea typeface="Monterchi Sans"/>
                <a:cs typeface="Monterchi Sans"/>
                <a:sym typeface="Monterchi Sans"/>
              </a:rPr>
              <a:t>Page</a:t>
            </a:r>
          </a:p>
        </p:txBody>
      </p:sp>
      <p:sp>
        <p:nvSpPr>
          <p:cNvPr name="TextBox 15" id="15"/>
          <p:cNvSpPr txBox="true"/>
          <p:nvPr/>
        </p:nvSpPr>
        <p:spPr>
          <a:xfrm rot="0">
            <a:off x="16471512" y="710883"/>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strike="noStrike" u="none">
                <a:solidFill>
                  <a:srgbClr val="5D5340"/>
                </a:solidFill>
                <a:latin typeface="Monterchi Sans Bold"/>
                <a:ea typeface="Monterchi Sans Bold"/>
                <a:cs typeface="Monterchi Sans Bold"/>
                <a:sym typeface="Monterchi Sans Bold"/>
              </a:rPr>
              <a:t>03</a:t>
            </a:r>
          </a:p>
        </p:txBody>
      </p:sp>
      <p:sp>
        <p:nvSpPr>
          <p:cNvPr name="TextBox 16" id="16"/>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
        <p:nvSpPr>
          <p:cNvPr name="TextBox 17" id="17"/>
          <p:cNvSpPr txBox="true"/>
          <p:nvPr/>
        </p:nvSpPr>
        <p:spPr>
          <a:xfrm rot="0">
            <a:off x="312600" y="3292442"/>
            <a:ext cx="11720375" cy="1402141"/>
          </a:xfrm>
          <a:prstGeom prst="rect">
            <a:avLst/>
          </a:prstGeom>
        </p:spPr>
        <p:txBody>
          <a:bodyPr anchor="t" rtlCol="false" tIns="0" lIns="0" bIns="0" rIns="0">
            <a:spAutoFit/>
          </a:bodyPr>
          <a:lstStyle/>
          <a:p>
            <a:pPr algn="l">
              <a:lnSpc>
                <a:spcPts val="5666"/>
              </a:lnSpc>
              <a:spcBef>
                <a:spcPct val="0"/>
              </a:spcBef>
            </a:pPr>
            <a:r>
              <a:rPr lang="en-US" b="true" sz="4047">
                <a:solidFill>
                  <a:srgbClr val="414B3B"/>
                </a:solidFill>
                <a:latin typeface="Monterchi Sans Bold"/>
                <a:ea typeface="Monterchi Sans Bold"/>
                <a:cs typeface="Monterchi Sans Bold"/>
                <a:sym typeface="Monterchi Sans Bold"/>
              </a:rPr>
              <a:t>Embracing the Fut</a:t>
            </a:r>
            <a:r>
              <a:rPr lang="en-US" b="true" sz="4047">
                <a:solidFill>
                  <a:srgbClr val="414B3B"/>
                </a:solidFill>
                <a:latin typeface="Monterchi Sans Bold"/>
                <a:ea typeface="Monterchi Sans Bold"/>
                <a:cs typeface="Monterchi Sans Bold"/>
                <a:sym typeface="Monterchi Sans Bold"/>
              </a:rPr>
              <a:t>ure of Transportation: Autonomous Vehicles on Our Campus</a:t>
            </a:r>
          </a:p>
        </p:txBody>
      </p:sp>
      <p:sp>
        <p:nvSpPr>
          <p:cNvPr name="TextBox 18" id="18"/>
          <p:cNvSpPr txBox="true"/>
          <p:nvPr/>
        </p:nvSpPr>
        <p:spPr>
          <a:xfrm rot="0">
            <a:off x="0" y="4780308"/>
            <a:ext cx="10059070" cy="809021"/>
          </a:xfrm>
          <a:prstGeom prst="rect">
            <a:avLst/>
          </a:prstGeom>
        </p:spPr>
        <p:txBody>
          <a:bodyPr anchor="t" rtlCol="false" tIns="0" lIns="0" bIns="0" rIns="0">
            <a:spAutoFit/>
          </a:bodyPr>
          <a:lstStyle/>
          <a:p>
            <a:pPr algn="l" marL="873878" indent="-436939" lvl="1">
              <a:lnSpc>
                <a:spcPts val="6961"/>
              </a:lnSpc>
              <a:buFont typeface="Arial"/>
              <a:buChar char="•"/>
            </a:pPr>
            <a:r>
              <a:rPr lang="en-US" b="true" sz="4047" strike="noStrike" u="none">
                <a:solidFill>
                  <a:srgbClr val="414B3B"/>
                </a:solidFill>
                <a:latin typeface="Monterchi Sans Bold"/>
                <a:ea typeface="Monterchi Sans Bold"/>
                <a:cs typeface="Monterchi Sans Bold"/>
                <a:sym typeface="Monterchi Sans Bold"/>
              </a:rPr>
              <a:t>What are autonomous vehicles (AVs)?</a:t>
            </a:r>
          </a:p>
        </p:txBody>
      </p:sp>
      <p:sp>
        <p:nvSpPr>
          <p:cNvPr name="TextBox 19" id="19"/>
          <p:cNvSpPr txBox="true"/>
          <p:nvPr/>
        </p:nvSpPr>
        <p:spPr>
          <a:xfrm rot="0">
            <a:off x="0" y="5867578"/>
            <a:ext cx="10059070" cy="809021"/>
          </a:xfrm>
          <a:prstGeom prst="rect">
            <a:avLst/>
          </a:prstGeom>
        </p:spPr>
        <p:txBody>
          <a:bodyPr anchor="t" rtlCol="false" tIns="0" lIns="0" bIns="0" rIns="0">
            <a:spAutoFit/>
          </a:bodyPr>
          <a:lstStyle/>
          <a:p>
            <a:pPr algn="l" marL="873878" indent="-436939" lvl="1">
              <a:lnSpc>
                <a:spcPts val="6961"/>
              </a:lnSpc>
              <a:buFont typeface="Arial"/>
              <a:buChar char="•"/>
            </a:pPr>
            <a:r>
              <a:rPr lang="en-US" b="true" sz="4047" strike="noStrike" u="none">
                <a:solidFill>
                  <a:srgbClr val="414B3B"/>
                </a:solidFill>
                <a:latin typeface="Monterchi Sans Bold"/>
                <a:ea typeface="Monterchi Sans Bold"/>
                <a:cs typeface="Monterchi Sans Bold"/>
                <a:sym typeface="Monterchi Sans Bold"/>
              </a:rPr>
              <a:t>Why AVs make sense on campus?</a:t>
            </a:r>
          </a:p>
        </p:txBody>
      </p:sp>
    </p:spTree>
  </p:cSld>
  <p:clrMapOvr>
    <a:masterClrMapping/>
  </p:clrMapOvr>
  <p:transition spd="fast">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3456661" y="1670016"/>
            <a:ext cx="4831339" cy="8000818"/>
            <a:chOff x="0" y="0"/>
            <a:chExt cx="954888" cy="1581318"/>
          </a:xfrm>
        </p:grpSpPr>
        <p:sp>
          <p:nvSpPr>
            <p:cNvPr name="Freeform 12" id="12"/>
            <p:cNvSpPr/>
            <p:nvPr/>
          </p:nvSpPr>
          <p:spPr>
            <a:xfrm flipH="false" flipV="false" rot="0">
              <a:off x="0" y="0"/>
              <a:ext cx="954888" cy="1581318"/>
            </a:xfrm>
            <a:custGeom>
              <a:avLst/>
              <a:gdLst/>
              <a:ahLst/>
              <a:cxnLst/>
              <a:rect r="r" b="b" t="t" l="l"/>
              <a:pathLst>
                <a:path h="1581318" w="954888">
                  <a:moveTo>
                    <a:pt x="0" y="0"/>
                  </a:moveTo>
                  <a:lnTo>
                    <a:pt x="954888" y="0"/>
                  </a:lnTo>
                  <a:lnTo>
                    <a:pt x="954888" y="1581318"/>
                  </a:lnTo>
                  <a:lnTo>
                    <a:pt x="0" y="1581318"/>
                  </a:lnTo>
                  <a:close/>
                </a:path>
              </a:pathLst>
            </a:custGeom>
            <a:blipFill>
              <a:blip r:embed="rId2"/>
              <a:stretch>
                <a:fillRect l="0" t="-15378" r="0" b="-15378"/>
              </a:stretch>
            </a:blipFill>
          </p:spPr>
        </p:sp>
      </p:grpSp>
      <p:sp>
        <p:nvSpPr>
          <p:cNvPr name="Freeform 13" id="13"/>
          <p:cNvSpPr/>
          <p:nvPr/>
        </p:nvSpPr>
        <p:spPr>
          <a:xfrm flipH="false" flipV="false" rot="0">
            <a:off x="7444328" y="1463560"/>
            <a:ext cx="3399344" cy="7359879"/>
          </a:xfrm>
          <a:custGeom>
            <a:avLst/>
            <a:gdLst/>
            <a:ahLst/>
            <a:cxnLst/>
            <a:rect r="r" b="b" t="t" l="l"/>
            <a:pathLst>
              <a:path h="7359879" w="3399344">
                <a:moveTo>
                  <a:pt x="0" y="0"/>
                </a:moveTo>
                <a:lnTo>
                  <a:pt x="3399344" y="0"/>
                </a:lnTo>
                <a:lnTo>
                  <a:pt x="3399344" y="7359880"/>
                </a:lnTo>
                <a:lnTo>
                  <a:pt x="0" y="7359880"/>
                </a:lnTo>
                <a:lnTo>
                  <a:pt x="0" y="0"/>
                </a:lnTo>
                <a:close/>
              </a:path>
            </a:pathLst>
          </a:custGeom>
          <a:blipFill>
            <a:blip r:embed="rId2"/>
            <a:stretch>
              <a:fillRect l="0" t="0" r="0" b="0"/>
            </a:stretch>
          </a:blipFill>
        </p:spPr>
      </p:sp>
      <p:sp>
        <p:nvSpPr>
          <p:cNvPr name="TextBox 14" id="14"/>
          <p:cNvSpPr txBox="true"/>
          <p:nvPr/>
        </p:nvSpPr>
        <p:spPr>
          <a:xfrm rot="0">
            <a:off x="-1560485" y="1633882"/>
            <a:ext cx="13180039" cy="1450976"/>
          </a:xfrm>
          <a:prstGeom prst="rect">
            <a:avLst/>
          </a:prstGeom>
        </p:spPr>
        <p:txBody>
          <a:bodyPr anchor="t" rtlCol="false" tIns="0" lIns="0" bIns="0" rIns="0">
            <a:spAutoFit/>
          </a:bodyPr>
          <a:lstStyle/>
          <a:p>
            <a:pPr algn="ctr">
              <a:lnSpc>
                <a:spcPts val="11899"/>
              </a:lnSpc>
            </a:pPr>
            <a:r>
              <a:rPr lang="en-US" sz="8499">
                <a:solidFill>
                  <a:srgbClr val="5D5340"/>
                </a:solidFill>
                <a:latin typeface="Anton"/>
                <a:ea typeface="Anton"/>
                <a:cs typeface="Anton"/>
                <a:sym typeface="Anton"/>
              </a:rPr>
              <a:t>INTRODUCING GO-DRIVES</a:t>
            </a:r>
          </a:p>
        </p:txBody>
      </p:sp>
      <p:sp>
        <p:nvSpPr>
          <p:cNvPr name="TextBox 15" id="15"/>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F9F3"/>
                </a:solidFill>
                <a:latin typeface="Monterchi Sans"/>
                <a:ea typeface="Monterchi Sans"/>
                <a:cs typeface="Monterchi Sans"/>
                <a:sym typeface="Monterchi Sans"/>
              </a:rPr>
              <a:t>Page</a:t>
            </a:r>
          </a:p>
        </p:txBody>
      </p:sp>
      <p:sp>
        <p:nvSpPr>
          <p:cNvPr name="TextBox 16" id="16"/>
          <p:cNvSpPr txBox="true"/>
          <p:nvPr/>
        </p:nvSpPr>
        <p:spPr>
          <a:xfrm rot="0">
            <a:off x="16471512" y="710883"/>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strike="noStrike" u="none">
                <a:solidFill>
                  <a:srgbClr val="5D5340"/>
                </a:solidFill>
                <a:latin typeface="Monterchi Sans Bold"/>
                <a:ea typeface="Monterchi Sans Bold"/>
                <a:cs typeface="Monterchi Sans Bold"/>
                <a:sym typeface="Monterchi Sans Bold"/>
              </a:rPr>
              <a:t>04</a:t>
            </a:r>
          </a:p>
        </p:txBody>
      </p:sp>
      <p:sp>
        <p:nvSpPr>
          <p:cNvPr name="TextBox 17" id="17"/>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
        <p:nvSpPr>
          <p:cNvPr name="TextBox 18" id="18"/>
          <p:cNvSpPr txBox="true"/>
          <p:nvPr/>
        </p:nvSpPr>
        <p:spPr>
          <a:xfrm rot="0">
            <a:off x="0" y="3502505"/>
            <a:ext cx="10059070" cy="1402141"/>
          </a:xfrm>
          <a:prstGeom prst="rect">
            <a:avLst/>
          </a:prstGeom>
        </p:spPr>
        <p:txBody>
          <a:bodyPr anchor="t" rtlCol="false" tIns="0" lIns="0" bIns="0" rIns="0">
            <a:spAutoFit/>
          </a:bodyPr>
          <a:lstStyle/>
          <a:p>
            <a:pPr algn="l" marL="873878" indent="-436939" lvl="1">
              <a:lnSpc>
                <a:spcPts val="5666"/>
              </a:lnSpc>
              <a:buFont typeface="Arial"/>
              <a:buChar char="•"/>
            </a:pPr>
            <a:r>
              <a:rPr lang="en-US" b="true" sz="4047">
                <a:solidFill>
                  <a:srgbClr val="414B3B"/>
                </a:solidFill>
                <a:latin typeface="Monterchi Sans Bold"/>
                <a:ea typeface="Monterchi Sans Bold"/>
                <a:cs typeface="Monterchi Sans Bold"/>
                <a:sym typeface="Monterchi Sans Bold"/>
              </a:rPr>
              <a:t>GoDrives helps make campus transportation simpl</a:t>
            </a:r>
            <a:r>
              <a:rPr lang="en-US" b="true" sz="4047" strike="noStrike" u="none">
                <a:solidFill>
                  <a:srgbClr val="414B3B"/>
                </a:solidFill>
                <a:latin typeface="Monterchi Sans Bold"/>
                <a:ea typeface="Monterchi Sans Bold"/>
                <a:cs typeface="Monterchi Sans Bold"/>
                <a:sym typeface="Monterchi Sans Bold"/>
              </a:rPr>
              <a:t>e a</a:t>
            </a:r>
            <a:r>
              <a:rPr lang="en-US" b="true" sz="4047" strike="noStrike" u="none">
                <a:solidFill>
                  <a:srgbClr val="414B3B"/>
                </a:solidFill>
                <a:latin typeface="Monterchi Sans Bold"/>
                <a:ea typeface="Monterchi Sans Bold"/>
                <a:cs typeface="Monterchi Sans Bold"/>
                <a:sym typeface="Monterchi Sans Bold"/>
              </a:rPr>
              <a:t>nd</a:t>
            </a:r>
            <a:r>
              <a:rPr lang="en-US" b="true" sz="4047" strike="noStrike" u="none">
                <a:solidFill>
                  <a:srgbClr val="414B3B"/>
                </a:solidFill>
                <a:latin typeface="Monterchi Sans Bold"/>
                <a:ea typeface="Monterchi Sans Bold"/>
                <a:cs typeface="Monterchi Sans Bold"/>
                <a:sym typeface="Monterchi Sans Bold"/>
              </a:rPr>
              <a:t> </a:t>
            </a:r>
            <a:r>
              <a:rPr lang="en-US" b="true" sz="4047" strike="noStrike" u="none">
                <a:solidFill>
                  <a:srgbClr val="414B3B"/>
                </a:solidFill>
                <a:latin typeface="Monterchi Sans Bold"/>
                <a:ea typeface="Monterchi Sans Bold"/>
                <a:cs typeface="Monterchi Sans Bold"/>
                <a:sym typeface="Monterchi Sans Bold"/>
              </a:rPr>
              <a:t>eff</a:t>
            </a:r>
            <a:r>
              <a:rPr lang="en-US" b="true" sz="4047" strike="noStrike" u="none">
                <a:solidFill>
                  <a:srgbClr val="414B3B"/>
                </a:solidFill>
                <a:latin typeface="Monterchi Sans Bold"/>
                <a:ea typeface="Monterchi Sans Bold"/>
                <a:cs typeface="Monterchi Sans Bold"/>
                <a:sym typeface="Monterchi Sans Bold"/>
              </a:rPr>
              <a:t>i</a:t>
            </a:r>
            <a:r>
              <a:rPr lang="en-US" b="true" sz="4047" strike="noStrike" u="none">
                <a:solidFill>
                  <a:srgbClr val="414B3B"/>
                </a:solidFill>
                <a:latin typeface="Monterchi Sans Bold"/>
                <a:ea typeface="Monterchi Sans Bold"/>
                <a:cs typeface="Monterchi Sans Bold"/>
                <a:sym typeface="Monterchi Sans Bold"/>
              </a:rPr>
              <a:t>c</a:t>
            </a:r>
            <a:r>
              <a:rPr lang="en-US" b="true" sz="4047" strike="noStrike" u="none">
                <a:solidFill>
                  <a:srgbClr val="414B3B"/>
                </a:solidFill>
                <a:latin typeface="Monterchi Sans Bold"/>
                <a:ea typeface="Monterchi Sans Bold"/>
                <a:cs typeface="Monterchi Sans Bold"/>
                <a:sym typeface="Monterchi Sans Bold"/>
              </a:rPr>
              <a:t>ie</a:t>
            </a:r>
            <a:r>
              <a:rPr lang="en-US" b="true" sz="4047" strike="noStrike" u="none">
                <a:solidFill>
                  <a:srgbClr val="414B3B"/>
                </a:solidFill>
                <a:latin typeface="Monterchi Sans Bold"/>
                <a:ea typeface="Monterchi Sans Bold"/>
                <a:cs typeface="Monterchi Sans Bold"/>
                <a:sym typeface="Monterchi Sans Bold"/>
              </a:rPr>
              <a:t>n</a:t>
            </a:r>
            <a:r>
              <a:rPr lang="en-US" b="true" sz="4047" strike="noStrike" u="none">
                <a:solidFill>
                  <a:srgbClr val="414B3B"/>
                </a:solidFill>
                <a:latin typeface="Monterchi Sans Bold"/>
                <a:ea typeface="Monterchi Sans Bold"/>
                <a:cs typeface="Monterchi Sans Bold"/>
                <a:sym typeface="Monterchi Sans Bold"/>
              </a:rPr>
              <a:t>t</a:t>
            </a:r>
          </a:p>
        </p:txBody>
      </p:sp>
      <p:sp>
        <p:nvSpPr>
          <p:cNvPr name="TextBox 19" id="19"/>
          <p:cNvSpPr txBox="true"/>
          <p:nvPr/>
        </p:nvSpPr>
        <p:spPr>
          <a:xfrm rot="0">
            <a:off x="0" y="5422775"/>
            <a:ext cx="10059070" cy="2116516"/>
          </a:xfrm>
          <a:prstGeom prst="rect">
            <a:avLst/>
          </a:prstGeom>
        </p:spPr>
        <p:txBody>
          <a:bodyPr anchor="t" rtlCol="false" tIns="0" lIns="0" bIns="0" rIns="0">
            <a:spAutoFit/>
          </a:bodyPr>
          <a:lstStyle/>
          <a:p>
            <a:pPr algn="l" marL="873878" indent="-436939" lvl="1">
              <a:lnSpc>
                <a:spcPts val="5666"/>
              </a:lnSpc>
              <a:buFont typeface="Arial"/>
              <a:buChar char="•"/>
            </a:pPr>
            <a:r>
              <a:rPr lang="en-US" b="true" sz="4047" strike="noStrike" u="none">
                <a:solidFill>
                  <a:srgbClr val="414B3B"/>
                </a:solidFill>
                <a:latin typeface="Monterchi Sans Bold"/>
                <a:ea typeface="Monterchi Sans Bold"/>
                <a:cs typeface="Monterchi Sans Bold"/>
                <a:sym typeface="Monterchi Sans Bold"/>
              </a:rPr>
              <a:t>Designed to help with the passenger-vehicle real-time interaction. </a:t>
            </a:r>
          </a:p>
          <a:p>
            <a:pPr algn="l">
              <a:lnSpc>
                <a:spcPts val="5666"/>
              </a:lnSpc>
            </a:pPr>
          </a:p>
        </p:txBody>
      </p:sp>
    </p:spTree>
  </p:cSld>
  <p:clrMapOvr>
    <a:masterClrMapping/>
  </p:clrMapOvr>
  <p:transition spd="fast">
    <p:push dir="l"/>
  </p:transition>
</p:sld>
</file>

<file path=ppt/slides/slide5.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sp>
        <p:nvSpPr>
          <p:cNvPr name="TextBox 2" id="2"/>
          <p:cNvSpPr txBox="true"/>
          <p:nvPr/>
        </p:nvSpPr>
        <p:spPr>
          <a:xfrm rot="0">
            <a:off x="1028700" y="2258270"/>
            <a:ext cx="15067964" cy="1450976"/>
          </a:xfrm>
          <a:prstGeom prst="rect">
            <a:avLst/>
          </a:prstGeom>
        </p:spPr>
        <p:txBody>
          <a:bodyPr anchor="t" rtlCol="false" tIns="0" lIns="0" bIns="0" rIns="0">
            <a:spAutoFit/>
          </a:bodyPr>
          <a:lstStyle/>
          <a:p>
            <a:pPr algn="l">
              <a:lnSpc>
                <a:spcPts val="11899"/>
              </a:lnSpc>
            </a:pPr>
            <a:r>
              <a:rPr lang="en-US" sz="8499">
                <a:solidFill>
                  <a:srgbClr val="5D5340"/>
                </a:solidFill>
                <a:latin typeface="Anton"/>
                <a:ea typeface="Anton"/>
                <a:cs typeface="Anton"/>
                <a:sym typeface="Anton"/>
              </a:rPr>
              <a:t>WHAT IS THE </a:t>
            </a:r>
            <a:r>
              <a:rPr lang="en-US" sz="8499">
                <a:solidFill>
                  <a:srgbClr val="5D5340"/>
                </a:solidFill>
                <a:latin typeface="Anton"/>
                <a:ea typeface="Anton"/>
                <a:cs typeface="Anton"/>
                <a:sym typeface="Anton"/>
              </a:rPr>
              <a:t>PROBLEM?</a:t>
            </a:r>
          </a:p>
        </p:txBody>
      </p:sp>
      <p:grpSp>
        <p:nvGrpSpPr>
          <p:cNvPr name="Group 3" id="3"/>
          <p:cNvGrpSpPr/>
          <p:nvPr/>
        </p:nvGrpSpPr>
        <p:grpSpPr>
          <a:xfrm rot="0">
            <a:off x="9682719" y="5298931"/>
            <a:ext cx="7853170" cy="2253142"/>
            <a:chOff x="0" y="0"/>
            <a:chExt cx="2068325" cy="593420"/>
          </a:xfrm>
        </p:grpSpPr>
        <p:sp>
          <p:nvSpPr>
            <p:cNvPr name="Freeform 4" id="4"/>
            <p:cNvSpPr/>
            <p:nvPr/>
          </p:nvSpPr>
          <p:spPr>
            <a:xfrm flipH="false" flipV="false" rot="0">
              <a:off x="0" y="0"/>
              <a:ext cx="2068325" cy="593420"/>
            </a:xfrm>
            <a:custGeom>
              <a:avLst/>
              <a:gdLst/>
              <a:ahLst/>
              <a:cxnLst/>
              <a:rect r="r" b="b" t="t" l="l"/>
              <a:pathLst>
                <a:path h="593420" w="2068325">
                  <a:moveTo>
                    <a:pt x="50278" y="0"/>
                  </a:moveTo>
                  <a:lnTo>
                    <a:pt x="2018047" y="0"/>
                  </a:lnTo>
                  <a:cubicBezTo>
                    <a:pt x="2045814" y="0"/>
                    <a:pt x="2068325" y="22510"/>
                    <a:pt x="2068325" y="50278"/>
                  </a:cubicBezTo>
                  <a:lnTo>
                    <a:pt x="2068325" y="543143"/>
                  </a:lnTo>
                  <a:cubicBezTo>
                    <a:pt x="2068325" y="556477"/>
                    <a:pt x="2063027" y="569265"/>
                    <a:pt x="2053599" y="578694"/>
                  </a:cubicBezTo>
                  <a:cubicBezTo>
                    <a:pt x="2044170" y="588123"/>
                    <a:pt x="2031381" y="593420"/>
                    <a:pt x="2018047" y="593420"/>
                  </a:cubicBezTo>
                  <a:lnTo>
                    <a:pt x="50278" y="593420"/>
                  </a:lnTo>
                  <a:cubicBezTo>
                    <a:pt x="36943" y="593420"/>
                    <a:pt x="24155" y="588123"/>
                    <a:pt x="14726" y="578694"/>
                  </a:cubicBezTo>
                  <a:cubicBezTo>
                    <a:pt x="5297" y="569265"/>
                    <a:pt x="0" y="556477"/>
                    <a:pt x="0" y="543143"/>
                  </a:cubicBezTo>
                  <a:lnTo>
                    <a:pt x="0" y="50278"/>
                  </a:lnTo>
                  <a:cubicBezTo>
                    <a:pt x="0" y="36943"/>
                    <a:pt x="5297" y="24155"/>
                    <a:pt x="14726" y="14726"/>
                  </a:cubicBezTo>
                  <a:cubicBezTo>
                    <a:pt x="24155" y="5297"/>
                    <a:pt x="36943" y="0"/>
                    <a:pt x="50278" y="0"/>
                  </a:cubicBezTo>
                  <a:close/>
                </a:path>
              </a:pathLst>
            </a:custGeom>
            <a:solidFill>
              <a:srgbClr val="A7C396"/>
            </a:solidFill>
          </p:spPr>
        </p:sp>
        <p:sp>
          <p:nvSpPr>
            <p:cNvPr name="TextBox 5" id="5"/>
            <p:cNvSpPr txBox="true"/>
            <p:nvPr/>
          </p:nvSpPr>
          <p:spPr>
            <a:xfrm>
              <a:off x="0" y="-28575"/>
              <a:ext cx="2068325" cy="62199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9933720" y="5519502"/>
            <a:ext cx="7367314" cy="1402141"/>
          </a:xfrm>
          <a:prstGeom prst="rect">
            <a:avLst/>
          </a:prstGeom>
        </p:spPr>
        <p:txBody>
          <a:bodyPr anchor="t" rtlCol="false" tIns="0" lIns="0" bIns="0" rIns="0">
            <a:spAutoFit/>
          </a:bodyPr>
          <a:lstStyle/>
          <a:p>
            <a:pPr algn="l" marL="0" indent="0" lvl="0">
              <a:lnSpc>
                <a:spcPts val="5666"/>
              </a:lnSpc>
              <a:spcBef>
                <a:spcPct val="0"/>
              </a:spcBef>
            </a:pPr>
            <a:r>
              <a:rPr lang="en-US" b="true" sz="4047" strike="noStrike" u="none">
                <a:solidFill>
                  <a:srgbClr val="414B3B"/>
                </a:solidFill>
                <a:latin typeface="Monterchi Sans Bold"/>
                <a:ea typeface="Monterchi Sans Bold"/>
                <a:cs typeface="Monterchi Sans Bold"/>
                <a:sym typeface="Monterchi Sans Bold"/>
              </a:rPr>
              <a:t>AV tracking was researched but never implemented as a mobile solution.</a:t>
            </a:r>
          </a:p>
        </p:txBody>
      </p:sp>
      <p:sp>
        <p:nvSpPr>
          <p:cNvPr name="TextBox 7" id="7"/>
          <p:cNvSpPr txBox="true"/>
          <p:nvPr/>
        </p:nvSpPr>
        <p:spPr>
          <a:xfrm rot="0">
            <a:off x="9560162" y="4600422"/>
            <a:ext cx="3194441" cy="663685"/>
          </a:xfrm>
          <a:prstGeom prst="rect">
            <a:avLst/>
          </a:prstGeom>
        </p:spPr>
        <p:txBody>
          <a:bodyPr anchor="t" rtlCol="false" tIns="0" lIns="0" bIns="0" rIns="0">
            <a:spAutoFit/>
          </a:bodyPr>
          <a:lstStyle/>
          <a:p>
            <a:pPr algn="l">
              <a:lnSpc>
                <a:spcPts val="5418"/>
              </a:lnSpc>
            </a:pPr>
            <a:r>
              <a:rPr lang="en-US" sz="3870" b="true">
                <a:solidFill>
                  <a:srgbClr val="2B3425"/>
                </a:solidFill>
                <a:latin typeface="Monterchi Sans Bold"/>
                <a:ea typeface="Monterchi Sans Bold"/>
                <a:cs typeface="Monterchi Sans Bold"/>
                <a:sym typeface="Monterchi Sans Bold"/>
              </a:rPr>
              <a:t>Problem 2</a:t>
            </a:r>
          </a:p>
        </p:txBody>
      </p:sp>
      <p:grpSp>
        <p:nvGrpSpPr>
          <p:cNvPr name="Group 8" id="8"/>
          <p:cNvGrpSpPr/>
          <p:nvPr/>
        </p:nvGrpSpPr>
        <p:grpSpPr>
          <a:xfrm rot="-5400000">
            <a:off x="8529984" y="-8356629"/>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6424818" y="596299"/>
            <a:ext cx="804162" cy="864802"/>
            <a:chOff x="0" y="0"/>
            <a:chExt cx="211796" cy="227767"/>
          </a:xfrm>
        </p:grpSpPr>
        <p:sp>
          <p:nvSpPr>
            <p:cNvPr name="Freeform 12" id="12"/>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13" id="13"/>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8502684" y="926822"/>
            <a:ext cx="1282633" cy="18770658"/>
            <a:chOff x="0" y="0"/>
            <a:chExt cx="337813" cy="4943712"/>
          </a:xfrm>
        </p:grpSpPr>
        <p:sp>
          <p:nvSpPr>
            <p:cNvPr name="Freeform 15" id="15"/>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6" id="16"/>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F9F3"/>
                </a:solidFill>
                <a:latin typeface="Monterchi Sans"/>
                <a:ea typeface="Monterchi Sans"/>
                <a:cs typeface="Monterchi Sans"/>
                <a:sym typeface="Monterchi Sans"/>
              </a:rPr>
              <a:t>Page</a:t>
            </a:r>
          </a:p>
        </p:txBody>
      </p:sp>
      <p:sp>
        <p:nvSpPr>
          <p:cNvPr name="TextBox 18" id="18"/>
          <p:cNvSpPr txBox="true"/>
          <p:nvPr/>
        </p:nvSpPr>
        <p:spPr>
          <a:xfrm rot="0">
            <a:off x="16471512" y="710883"/>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strike="noStrike" u="none">
                <a:solidFill>
                  <a:srgbClr val="5D5340"/>
                </a:solidFill>
                <a:latin typeface="Monterchi Sans Bold"/>
                <a:ea typeface="Monterchi Sans Bold"/>
                <a:cs typeface="Monterchi Sans Bold"/>
                <a:sym typeface="Monterchi Sans Bold"/>
              </a:rPr>
              <a:t>05</a:t>
            </a:r>
          </a:p>
        </p:txBody>
      </p:sp>
      <p:grpSp>
        <p:nvGrpSpPr>
          <p:cNvPr name="Group 19" id="19"/>
          <p:cNvGrpSpPr/>
          <p:nvPr/>
        </p:nvGrpSpPr>
        <p:grpSpPr>
          <a:xfrm rot="0">
            <a:off x="1151257" y="5298931"/>
            <a:ext cx="7853170" cy="2253142"/>
            <a:chOff x="0" y="0"/>
            <a:chExt cx="2068325" cy="593420"/>
          </a:xfrm>
        </p:grpSpPr>
        <p:sp>
          <p:nvSpPr>
            <p:cNvPr name="Freeform 20" id="20"/>
            <p:cNvSpPr/>
            <p:nvPr/>
          </p:nvSpPr>
          <p:spPr>
            <a:xfrm flipH="false" flipV="false" rot="0">
              <a:off x="0" y="0"/>
              <a:ext cx="2068325" cy="593420"/>
            </a:xfrm>
            <a:custGeom>
              <a:avLst/>
              <a:gdLst/>
              <a:ahLst/>
              <a:cxnLst/>
              <a:rect r="r" b="b" t="t" l="l"/>
              <a:pathLst>
                <a:path h="593420" w="2068325">
                  <a:moveTo>
                    <a:pt x="50278" y="0"/>
                  </a:moveTo>
                  <a:lnTo>
                    <a:pt x="2018047" y="0"/>
                  </a:lnTo>
                  <a:cubicBezTo>
                    <a:pt x="2045814" y="0"/>
                    <a:pt x="2068325" y="22510"/>
                    <a:pt x="2068325" y="50278"/>
                  </a:cubicBezTo>
                  <a:lnTo>
                    <a:pt x="2068325" y="543143"/>
                  </a:lnTo>
                  <a:cubicBezTo>
                    <a:pt x="2068325" y="556477"/>
                    <a:pt x="2063027" y="569265"/>
                    <a:pt x="2053599" y="578694"/>
                  </a:cubicBezTo>
                  <a:cubicBezTo>
                    <a:pt x="2044170" y="588123"/>
                    <a:pt x="2031381" y="593420"/>
                    <a:pt x="2018047" y="593420"/>
                  </a:cubicBezTo>
                  <a:lnTo>
                    <a:pt x="50278" y="593420"/>
                  </a:lnTo>
                  <a:cubicBezTo>
                    <a:pt x="36943" y="593420"/>
                    <a:pt x="24155" y="588123"/>
                    <a:pt x="14726" y="578694"/>
                  </a:cubicBezTo>
                  <a:cubicBezTo>
                    <a:pt x="5297" y="569265"/>
                    <a:pt x="0" y="556477"/>
                    <a:pt x="0" y="543143"/>
                  </a:cubicBezTo>
                  <a:lnTo>
                    <a:pt x="0" y="50278"/>
                  </a:lnTo>
                  <a:cubicBezTo>
                    <a:pt x="0" y="36943"/>
                    <a:pt x="5297" y="24155"/>
                    <a:pt x="14726" y="14726"/>
                  </a:cubicBezTo>
                  <a:cubicBezTo>
                    <a:pt x="24155" y="5297"/>
                    <a:pt x="36943" y="0"/>
                    <a:pt x="50278" y="0"/>
                  </a:cubicBezTo>
                  <a:close/>
                </a:path>
              </a:pathLst>
            </a:custGeom>
            <a:solidFill>
              <a:srgbClr val="A7C396"/>
            </a:solidFill>
          </p:spPr>
        </p:sp>
        <p:sp>
          <p:nvSpPr>
            <p:cNvPr name="TextBox 21" id="21"/>
            <p:cNvSpPr txBox="true"/>
            <p:nvPr/>
          </p:nvSpPr>
          <p:spPr>
            <a:xfrm>
              <a:off x="0" y="-28575"/>
              <a:ext cx="2068325" cy="621995"/>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561196" y="5435557"/>
            <a:ext cx="7443231" cy="2116516"/>
          </a:xfrm>
          <a:prstGeom prst="rect">
            <a:avLst/>
          </a:prstGeom>
        </p:spPr>
        <p:txBody>
          <a:bodyPr anchor="t" rtlCol="false" tIns="0" lIns="0" bIns="0" rIns="0">
            <a:spAutoFit/>
          </a:bodyPr>
          <a:lstStyle/>
          <a:p>
            <a:pPr algn="l" marL="0" indent="0" lvl="0">
              <a:lnSpc>
                <a:spcPts val="5666"/>
              </a:lnSpc>
              <a:spcBef>
                <a:spcPct val="0"/>
              </a:spcBef>
            </a:pPr>
            <a:r>
              <a:rPr lang="en-US" b="true" sz="4047" strike="noStrike" u="none">
                <a:solidFill>
                  <a:srgbClr val="414B3B"/>
                </a:solidFill>
                <a:latin typeface="Monterchi Sans Bold"/>
                <a:ea typeface="Monterchi Sans Bold"/>
                <a:cs typeface="Monterchi Sans Bold"/>
                <a:sym typeface="Monterchi Sans Bold"/>
              </a:rPr>
              <a:t>Existing ride-hailing apps (Uber, Kareem) don’t support campus AV environments.</a:t>
            </a:r>
          </a:p>
        </p:txBody>
      </p:sp>
      <p:sp>
        <p:nvSpPr>
          <p:cNvPr name="TextBox 23" id="23"/>
          <p:cNvSpPr txBox="true"/>
          <p:nvPr/>
        </p:nvSpPr>
        <p:spPr>
          <a:xfrm rot="0">
            <a:off x="1028700" y="4600422"/>
            <a:ext cx="3194441" cy="663685"/>
          </a:xfrm>
          <a:prstGeom prst="rect">
            <a:avLst/>
          </a:prstGeom>
        </p:spPr>
        <p:txBody>
          <a:bodyPr anchor="t" rtlCol="false" tIns="0" lIns="0" bIns="0" rIns="0">
            <a:spAutoFit/>
          </a:bodyPr>
          <a:lstStyle/>
          <a:p>
            <a:pPr algn="l">
              <a:lnSpc>
                <a:spcPts val="5418"/>
              </a:lnSpc>
            </a:pPr>
            <a:r>
              <a:rPr lang="en-US" sz="3870" b="true">
                <a:solidFill>
                  <a:srgbClr val="2B3425"/>
                </a:solidFill>
                <a:latin typeface="Monterchi Sans Bold"/>
                <a:ea typeface="Monterchi Sans Bold"/>
                <a:cs typeface="Monterchi Sans Bold"/>
                <a:sym typeface="Monterchi Sans Bold"/>
              </a:rPr>
              <a:t>Problem 1</a:t>
            </a:r>
          </a:p>
        </p:txBody>
      </p:sp>
      <p:sp>
        <p:nvSpPr>
          <p:cNvPr name="TextBox 24" id="24"/>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Tree>
  </p:cSld>
  <p:clrMapOvr>
    <a:masterClrMapping/>
  </p:clrMapOvr>
  <p:transition spd="fast">
    <p:push dir="l"/>
  </p:transition>
</p:sld>
</file>

<file path=ppt/slides/slide6.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aphicFrame>
        <p:nvGraphicFramePr>
          <p:cNvPr name="Table 11" id="11"/>
          <p:cNvGraphicFramePr>
            <a:graphicFrameLocks noGrp="true"/>
          </p:cNvGraphicFramePr>
          <p:nvPr/>
        </p:nvGraphicFramePr>
        <p:xfrm>
          <a:off x="8610954" y="1940018"/>
          <a:ext cx="9477306" cy="7295808"/>
        </p:xfrm>
        <a:graphic>
          <a:graphicData uri="http://schemas.openxmlformats.org/drawingml/2006/table">
            <a:tbl>
              <a:tblPr/>
              <a:tblGrid>
                <a:gridCol w="5885137"/>
                <a:gridCol w="3592170"/>
              </a:tblGrid>
              <a:tr h="1311775">
                <a:tc>
                  <a:txBody>
                    <a:bodyPr anchor="t" rtlCol="false"/>
                    <a:lstStyle/>
                    <a:p>
                      <a:pPr algn="ctr">
                        <a:lnSpc>
                          <a:spcPts val="4157"/>
                        </a:lnSpc>
                        <a:defRPr/>
                      </a:pPr>
                      <a:r>
                        <a:rPr lang="en-US" sz="4199" b="true">
                          <a:solidFill>
                            <a:srgbClr val="FFFFFF"/>
                          </a:solidFill>
                          <a:latin typeface="Monterchi Sans Bold"/>
                          <a:ea typeface="Monterchi Sans Bold"/>
                          <a:cs typeface="Monterchi Sans Bold"/>
                          <a:sym typeface="Monterchi Sans Bold"/>
                        </a:rPr>
                        <a:t>Paper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8CA87C"/>
                    </a:solidFill>
                  </a:tcPr>
                </a:tc>
                <a:tc>
                  <a:txBody>
                    <a:bodyPr anchor="t" rtlCol="false"/>
                    <a:lstStyle/>
                    <a:p>
                      <a:pPr algn="ctr">
                        <a:lnSpc>
                          <a:spcPts val="4157"/>
                        </a:lnSpc>
                        <a:defRPr/>
                      </a:pPr>
                      <a:r>
                        <a:rPr lang="en-US" sz="4199" b="true">
                          <a:solidFill>
                            <a:srgbClr val="FFFFFF"/>
                          </a:solidFill>
                          <a:latin typeface="Monterchi Sans Bold"/>
                          <a:ea typeface="Monterchi Sans Bold"/>
                          <a:cs typeface="Monterchi Sans Bold"/>
                          <a:sym typeface="Monterchi Sans Bold"/>
                        </a:rPr>
                        <a:t>Focus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8CA87C"/>
                    </a:solidFill>
                  </a:tcPr>
                </a:tc>
              </a:tr>
              <a:tr h="1627750">
                <a:tc>
                  <a:txBody>
                    <a:bodyPr anchor="t" rtlCol="false"/>
                    <a:lstStyle/>
                    <a:p>
                      <a:pPr algn="ctr">
                        <a:lnSpc>
                          <a:spcPts val="4339"/>
                        </a:lnSpc>
                        <a:defRPr/>
                      </a:pPr>
                      <a:r>
                        <a:rPr lang="en-US" sz="3099">
                          <a:solidFill>
                            <a:srgbClr val="000000"/>
                          </a:solidFill>
                          <a:latin typeface="Monterchi Sans"/>
                          <a:ea typeface="Monterchi Sans"/>
                          <a:cs typeface="Monterchi Sans"/>
                          <a:sym typeface="Monterchi Sans"/>
                        </a:rPr>
                        <a:t>Re</a:t>
                      </a:r>
                      <a:r>
                        <a:rPr lang="en-US" sz="3099">
                          <a:solidFill>
                            <a:srgbClr val="000000"/>
                          </a:solidFill>
                          <a:latin typeface="Monterchi Sans"/>
                          <a:ea typeface="Monterchi Sans"/>
                          <a:cs typeface="Monterchi Sans"/>
                          <a:sym typeface="Monterchi Sans"/>
                        </a:rPr>
                        <a:t>al-Time Campus University Bus Tracking Mobile Application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339"/>
                        </a:lnSpc>
                        <a:defRPr/>
                      </a:pPr>
                      <a:r>
                        <a:rPr lang="en-US" sz="3099">
                          <a:solidFill>
                            <a:srgbClr val="000000"/>
                          </a:solidFill>
                          <a:latin typeface="Monterchi Sans"/>
                          <a:ea typeface="Monterchi Sans"/>
                          <a:cs typeface="Monterchi Sans"/>
                          <a:sym typeface="Monterchi Sans"/>
                        </a:rPr>
                        <a:t>GPS Bus Tracker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36982">
                <a:tc>
                  <a:txBody>
                    <a:bodyPr anchor="t" rtlCol="false"/>
                    <a:lstStyle/>
                    <a:p>
                      <a:pPr algn="ctr">
                        <a:lnSpc>
                          <a:spcPts val="4339"/>
                        </a:lnSpc>
                        <a:defRPr/>
                      </a:pPr>
                      <a:r>
                        <a:rPr lang="en-US" sz="3099">
                          <a:solidFill>
                            <a:srgbClr val="000000"/>
                          </a:solidFill>
                          <a:latin typeface="Monterchi Sans"/>
                          <a:ea typeface="Monterchi Sans"/>
                          <a:cs typeface="Monterchi Sans"/>
                          <a:sym typeface="Monterchi Sans"/>
                        </a:rPr>
                        <a:t>Smar</a:t>
                      </a:r>
                      <a:r>
                        <a:rPr lang="en-US" sz="3099">
                          <a:solidFill>
                            <a:srgbClr val="000000"/>
                          </a:solidFill>
                          <a:latin typeface="Monterchi Sans"/>
                          <a:ea typeface="Monterchi Sans"/>
                          <a:cs typeface="Monterchi Sans"/>
                          <a:sym typeface="Monterchi Sans"/>
                        </a:rPr>
                        <a:t>t Transportation System using IOT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339"/>
                        </a:lnSpc>
                        <a:defRPr/>
                      </a:pPr>
                      <a:r>
                        <a:rPr lang="en-US" sz="3099">
                          <a:solidFill>
                            <a:srgbClr val="000000"/>
                          </a:solidFill>
                          <a:latin typeface="Monterchi Sans"/>
                          <a:ea typeface="Monterchi Sans"/>
                          <a:cs typeface="Monterchi Sans"/>
                          <a:sym typeface="Monterchi Sans"/>
                        </a:rPr>
                        <a:t>IoT + ZigBee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719301">
                <a:tc>
                  <a:txBody>
                    <a:bodyPr anchor="t" rtlCol="false"/>
                    <a:lstStyle/>
                    <a:p>
                      <a:pPr algn="ctr">
                        <a:lnSpc>
                          <a:spcPts val="4339"/>
                        </a:lnSpc>
                        <a:defRPr/>
                      </a:pPr>
                      <a:r>
                        <a:rPr lang="en-US" sz="3099">
                          <a:solidFill>
                            <a:srgbClr val="000000"/>
                          </a:solidFill>
                          <a:latin typeface="Monterchi Sans"/>
                          <a:ea typeface="Monterchi Sans"/>
                          <a:cs typeface="Monterchi Sans"/>
                          <a:sym typeface="Monterchi Sans"/>
                        </a:rPr>
                        <a:t>Integrating Vehicle Positioning </a:t>
                      </a:r>
                      <a:r>
                        <a:rPr lang="en-US" sz="3099">
                          <a:solidFill>
                            <a:srgbClr val="000000"/>
                          </a:solidFill>
                          <a:latin typeface="Monterchi Sans"/>
                          <a:ea typeface="Monterchi Sans"/>
                          <a:cs typeface="Monterchi Sans"/>
                          <a:sym typeface="Monterchi Sans"/>
                        </a:rPr>
                        <a:t>and Path Tracking Practices for an Autonomous Vehicle Prototype in Campus Environment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339"/>
                        </a:lnSpc>
                        <a:defRPr/>
                      </a:pPr>
                      <a:r>
                        <a:rPr lang="en-US" sz="3099">
                          <a:solidFill>
                            <a:srgbClr val="000000"/>
                          </a:solidFill>
                          <a:latin typeface="Monterchi Sans"/>
                          <a:ea typeface="Monterchi Sans"/>
                          <a:cs typeface="Monterchi Sans"/>
                          <a:sym typeface="Monterchi Sans"/>
                        </a:rPr>
                        <a:t>AV Path Planning and Position Accuracy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2" id="12"/>
          <p:cNvSpPr txBox="true"/>
          <p:nvPr/>
        </p:nvSpPr>
        <p:spPr>
          <a:xfrm rot="0">
            <a:off x="581469" y="1820087"/>
            <a:ext cx="7244742" cy="1384933"/>
          </a:xfrm>
          <a:prstGeom prst="rect">
            <a:avLst/>
          </a:prstGeom>
        </p:spPr>
        <p:txBody>
          <a:bodyPr anchor="t" rtlCol="false" tIns="0" lIns="0" bIns="0" rIns="0">
            <a:spAutoFit/>
          </a:bodyPr>
          <a:lstStyle/>
          <a:p>
            <a:pPr algn="l">
              <a:lnSpc>
                <a:spcPts val="11340"/>
              </a:lnSpc>
            </a:pPr>
            <a:r>
              <a:rPr lang="en-US" sz="8100">
                <a:solidFill>
                  <a:srgbClr val="414B3B"/>
                </a:solidFill>
                <a:latin typeface="Anton"/>
                <a:ea typeface="Anton"/>
                <a:cs typeface="Anton"/>
                <a:sym typeface="Anton"/>
              </a:rPr>
              <a:t>LITERARY REVIEW</a:t>
            </a:r>
          </a:p>
        </p:txBody>
      </p:sp>
      <p:sp>
        <p:nvSpPr>
          <p:cNvPr name="TextBox 13" id="13"/>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F9F3"/>
                </a:solidFill>
                <a:latin typeface="Monterchi Sans"/>
                <a:ea typeface="Monterchi Sans"/>
                <a:cs typeface="Monterchi Sans"/>
                <a:sym typeface="Monterchi Sans"/>
              </a:rPr>
              <a:t>Page</a:t>
            </a:r>
          </a:p>
        </p:txBody>
      </p:sp>
      <p:sp>
        <p:nvSpPr>
          <p:cNvPr name="TextBox 14" id="14"/>
          <p:cNvSpPr txBox="true"/>
          <p:nvPr/>
        </p:nvSpPr>
        <p:spPr>
          <a:xfrm rot="0">
            <a:off x="16471512" y="710883"/>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strike="noStrike" u="none">
                <a:solidFill>
                  <a:srgbClr val="5D5340"/>
                </a:solidFill>
                <a:latin typeface="Monterchi Sans Bold"/>
                <a:ea typeface="Monterchi Sans Bold"/>
                <a:cs typeface="Monterchi Sans Bold"/>
                <a:sym typeface="Monterchi Sans Bold"/>
              </a:rPr>
              <a:t>06</a:t>
            </a:r>
          </a:p>
        </p:txBody>
      </p:sp>
      <p:sp>
        <p:nvSpPr>
          <p:cNvPr name="TextBox 15" id="15"/>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
        <p:nvSpPr>
          <p:cNvPr name="TextBox 16" id="16"/>
          <p:cNvSpPr txBox="true"/>
          <p:nvPr/>
        </p:nvSpPr>
        <p:spPr>
          <a:xfrm rot="0">
            <a:off x="171438" y="3547435"/>
            <a:ext cx="8090052" cy="5688391"/>
          </a:xfrm>
          <a:prstGeom prst="rect">
            <a:avLst/>
          </a:prstGeom>
        </p:spPr>
        <p:txBody>
          <a:bodyPr anchor="t" rtlCol="false" tIns="0" lIns="0" bIns="0" rIns="0">
            <a:spAutoFit/>
          </a:bodyPr>
          <a:lstStyle/>
          <a:p>
            <a:pPr algn="l" marL="873878" indent="-436939" lvl="1">
              <a:lnSpc>
                <a:spcPts val="5666"/>
              </a:lnSpc>
              <a:spcBef>
                <a:spcPct val="0"/>
              </a:spcBef>
              <a:buFont typeface="Arial"/>
              <a:buChar char="•"/>
            </a:pPr>
            <a:r>
              <a:rPr lang="en-US" b="true" sz="4047" strike="noStrike" u="none">
                <a:solidFill>
                  <a:srgbClr val="414B3B"/>
                </a:solidFill>
                <a:latin typeface="Monterchi Sans Bold"/>
                <a:ea typeface="Monterchi Sans Bold"/>
                <a:cs typeface="Monterchi Sans Bold"/>
                <a:sym typeface="Monterchi Sans Bold"/>
              </a:rPr>
              <a:t>Most r</a:t>
            </a:r>
            <a:r>
              <a:rPr lang="en-US" b="true" sz="4047" strike="noStrike" u="none">
                <a:solidFill>
                  <a:srgbClr val="414B3B"/>
                </a:solidFill>
                <a:latin typeface="Monterchi Sans Bold"/>
                <a:ea typeface="Monterchi Sans Bold"/>
                <a:cs typeface="Monterchi Sans Bold"/>
                <a:sym typeface="Monterchi Sans Bold"/>
              </a:rPr>
              <a:t>esearch emphasized sensor fusion and path planning, not user interaction.</a:t>
            </a:r>
          </a:p>
          <a:p>
            <a:pPr algn="l" marL="873878" indent="-436939" lvl="1">
              <a:lnSpc>
                <a:spcPts val="5666"/>
              </a:lnSpc>
              <a:spcBef>
                <a:spcPct val="0"/>
              </a:spcBef>
              <a:buFont typeface="Arial"/>
              <a:buChar char="•"/>
            </a:pPr>
            <a:r>
              <a:rPr lang="en-US" b="true" sz="4047" strike="noStrike" u="none">
                <a:solidFill>
                  <a:srgbClr val="414B3B"/>
                </a:solidFill>
                <a:latin typeface="Monterchi Sans Bold"/>
                <a:ea typeface="Monterchi Sans Bold"/>
                <a:cs typeface="Monterchi Sans Bold"/>
                <a:sym typeface="Monterchi Sans Bold"/>
              </a:rPr>
              <a:t>Almost</a:t>
            </a:r>
            <a:r>
              <a:rPr lang="en-US" b="true" sz="4047" strike="noStrike" u="none">
                <a:solidFill>
                  <a:srgbClr val="414B3B"/>
                </a:solidFill>
                <a:latin typeface="Monterchi Sans Bold"/>
                <a:ea typeface="Monterchi Sans Bold"/>
                <a:cs typeface="Monterchi Sans Bold"/>
                <a:sym typeface="Monterchi Sans Bold"/>
              </a:rPr>
              <a:t> all</a:t>
            </a:r>
            <a:r>
              <a:rPr lang="en-US" b="true" sz="4047" strike="noStrike" u="none">
                <a:solidFill>
                  <a:srgbClr val="414B3B"/>
                </a:solidFill>
                <a:latin typeface="Monterchi Sans Bold"/>
                <a:ea typeface="Monterchi Sans Bold"/>
                <a:cs typeface="Monterchi Sans Bold"/>
                <a:sym typeface="Monterchi Sans Bold"/>
              </a:rPr>
              <a:t> works lack real-time, mobile-based interaction between users and autonomous vehicles, especially in campus environments.</a:t>
            </a:r>
          </a:p>
          <a:p>
            <a:pPr algn="l">
              <a:lnSpc>
                <a:spcPts val="5666"/>
              </a:lnSpc>
              <a:spcBef>
                <a:spcPct val="0"/>
              </a:spcBef>
            </a:pPr>
          </a:p>
        </p:txBody>
      </p:sp>
    </p:spTree>
  </p:cSld>
  <p:clrMapOvr>
    <a:masterClrMapping/>
  </p:clrMapOvr>
  <p:transition spd="fast">
    <p:push dir="l"/>
  </p:transition>
</p:sld>
</file>

<file path=ppt/slides/slide7.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581469" y="1820087"/>
            <a:ext cx="7244742" cy="1384933"/>
          </a:xfrm>
          <a:prstGeom prst="rect">
            <a:avLst/>
          </a:prstGeom>
        </p:spPr>
        <p:txBody>
          <a:bodyPr anchor="t" rtlCol="false" tIns="0" lIns="0" bIns="0" rIns="0">
            <a:spAutoFit/>
          </a:bodyPr>
          <a:lstStyle/>
          <a:p>
            <a:pPr algn="l">
              <a:lnSpc>
                <a:spcPts val="11340"/>
              </a:lnSpc>
            </a:pPr>
            <a:r>
              <a:rPr lang="en-US" sz="8100">
                <a:solidFill>
                  <a:srgbClr val="414B3B"/>
                </a:solidFill>
                <a:latin typeface="Anton"/>
                <a:ea typeface="Anton"/>
                <a:cs typeface="Anton"/>
                <a:sym typeface="Anton"/>
              </a:rPr>
              <a:t>LITERARY REVIEW</a:t>
            </a:r>
          </a:p>
        </p:txBody>
      </p:sp>
      <p:sp>
        <p:nvSpPr>
          <p:cNvPr name="TextBox 12" id="12"/>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F9F3"/>
                </a:solidFill>
                <a:latin typeface="Monterchi Sans"/>
                <a:ea typeface="Monterchi Sans"/>
                <a:cs typeface="Monterchi Sans"/>
                <a:sym typeface="Monterchi Sans"/>
              </a:rPr>
              <a:t>Page</a:t>
            </a:r>
          </a:p>
        </p:txBody>
      </p:sp>
      <p:sp>
        <p:nvSpPr>
          <p:cNvPr name="TextBox 13" id="13"/>
          <p:cNvSpPr txBox="true"/>
          <p:nvPr/>
        </p:nvSpPr>
        <p:spPr>
          <a:xfrm rot="0">
            <a:off x="16471512" y="710883"/>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strike="noStrike" u="none">
                <a:solidFill>
                  <a:srgbClr val="5D5340"/>
                </a:solidFill>
                <a:latin typeface="Monterchi Sans Bold"/>
                <a:ea typeface="Monterchi Sans Bold"/>
                <a:cs typeface="Monterchi Sans Bold"/>
                <a:sym typeface="Monterchi Sans Bold"/>
              </a:rPr>
              <a:t>07</a:t>
            </a:r>
          </a:p>
        </p:txBody>
      </p:sp>
      <p:sp>
        <p:nvSpPr>
          <p:cNvPr name="TextBox 14" id="14"/>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
        <p:nvSpPr>
          <p:cNvPr name="TextBox 15" id="15"/>
          <p:cNvSpPr txBox="true"/>
          <p:nvPr/>
        </p:nvSpPr>
        <p:spPr>
          <a:xfrm rot="0">
            <a:off x="586054" y="3390131"/>
            <a:ext cx="17701946" cy="4960398"/>
          </a:xfrm>
          <a:prstGeom prst="rect">
            <a:avLst/>
          </a:prstGeom>
        </p:spPr>
        <p:txBody>
          <a:bodyPr anchor="t" rtlCol="false" tIns="0" lIns="0" bIns="0" rIns="0">
            <a:spAutoFit/>
          </a:bodyPr>
          <a:lstStyle/>
          <a:p>
            <a:pPr algn="l">
              <a:lnSpc>
                <a:spcPts val="7993"/>
              </a:lnSpc>
            </a:pPr>
            <a:r>
              <a:rPr lang="en-US" sz="4647" b="true">
                <a:solidFill>
                  <a:srgbClr val="414B3B"/>
                </a:solidFill>
                <a:latin typeface="Monterchi Sans Bold"/>
                <a:ea typeface="Monterchi Sans Bold"/>
                <a:cs typeface="Monterchi Sans Bold"/>
                <a:sym typeface="Monterchi Sans Bold"/>
              </a:rPr>
              <a:t>What previous researchers used and why:</a:t>
            </a:r>
          </a:p>
          <a:p>
            <a:pPr algn="l" marL="1003415" indent="-501708" lvl="1">
              <a:lnSpc>
                <a:spcPts val="7993"/>
              </a:lnSpc>
              <a:spcBef>
                <a:spcPct val="0"/>
              </a:spcBef>
              <a:buFont typeface="Arial"/>
              <a:buChar char="•"/>
            </a:pPr>
            <a:r>
              <a:rPr lang="en-US" b="true" sz="4647">
                <a:solidFill>
                  <a:srgbClr val="414B3B"/>
                </a:solidFill>
                <a:latin typeface="Monterchi Sans Bold"/>
                <a:ea typeface="Monterchi Sans Bold"/>
                <a:cs typeface="Monterchi Sans Bold"/>
                <a:sym typeface="Monterchi Sans Bold"/>
              </a:rPr>
              <a:t>App Development: Blynk, Flutter, and MIT App Inventor for quick mobile interface creation.</a:t>
            </a:r>
          </a:p>
          <a:p>
            <a:pPr algn="l" marL="1003415" indent="-501708" lvl="1">
              <a:lnSpc>
                <a:spcPts val="7993"/>
              </a:lnSpc>
              <a:spcBef>
                <a:spcPct val="0"/>
              </a:spcBef>
              <a:buFont typeface="Arial"/>
              <a:buChar char="•"/>
            </a:pPr>
            <a:r>
              <a:rPr lang="en-US" b="true" sz="4647" strike="noStrike" u="none">
                <a:solidFill>
                  <a:srgbClr val="414B3B"/>
                </a:solidFill>
                <a:latin typeface="Monterchi Sans Bold"/>
                <a:ea typeface="Monterchi Sans Bold"/>
                <a:cs typeface="Monterchi Sans Bold"/>
                <a:sym typeface="Monterchi Sans Bold"/>
              </a:rPr>
              <a:t>Backend &amp; Database: Firebase for real-time syncing and easy integration.</a:t>
            </a:r>
          </a:p>
          <a:p>
            <a:pPr algn="l" marL="1003415" indent="-501708" lvl="1">
              <a:lnSpc>
                <a:spcPts val="7993"/>
              </a:lnSpc>
              <a:spcBef>
                <a:spcPct val="0"/>
              </a:spcBef>
              <a:buFont typeface="Arial"/>
              <a:buChar char="•"/>
            </a:pPr>
            <a:r>
              <a:rPr lang="en-US" b="true" sz="4647" strike="noStrike" u="none">
                <a:solidFill>
                  <a:srgbClr val="414B3B"/>
                </a:solidFill>
                <a:latin typeface="Monterchi Sans Bold"/>
                <a:ea typeface="Monterchi Sans Bold"/>
                <a:cs typeface="Monterchi Sans Bold"/>
                <a:sym typeface="Monterchi Sans Bold"/>
              </a:rPr>
              <a:t>Map API</a:t>
            </a:r>
            <a:r>
              <a:rPr lang="en-US" b="true" sz="4647" strike="noStrike" u="none">
                <a:solidFill>
                  <a:srgbClr val="414B3B"/>
                </a:solidFill>
                <a:latin typeface="Monterchi Sans Bold"/>
                <a:ea typeface="Monterchi Sans Bold"/>
                <a:cs typeface="Monterchi Sans Bold"/>
                <a:sym typeface="Monterchi Sans Bold"/>
              </a:rPr>
              <a:t>: Google Maps API.</a:t>
            </a:r>
          </a:p>
        </p:txBody>
      </p:sp>
    </p:spTree>
  </p:cSld>
  <p:clrMapOvr>
    <a:masterClrMapping/>
  </p:clrMapOvr>
  <p:transition spd="fast">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0" y="1670016"/>
            <a:ext cx="7646231" cy="8000818"/>
          </a:xfrm>
          <a:custGeom>
            <a:avLst/>
            <a:gdLst/>
            <a:ahLst/>
            <a:cxnLst/>
            <a:rect r="r" b="b" t="t" l="l"/>
            <a:pathLst>
              <a:path h="8000818" w="7646231">
                <a:moveTo>
                  <a:pt x="0" y="0"/>
                </a:moveTo>
                <a:lnTo>
                  <a:pt x="7646231" y="0"/>
                </a:lnTo>
                <a:lnTo>
                  <a:pt x="7646231" y="8000818"/>
                </a:lnTo>
                <a:lnTo>
                  <a:pt x="0" y="8000818"/>
                </a:lnTo>
                <a:lnTo>
                  <a:pt x="0" y="0"/>
                </a:lnTo>
                <a:close/>
              </a:path>
            </a:pathLst>
          </a:custGeom>
          <a:blipFill>
            <a:blip r:embed="rId2"/>
            <a:stretch>
              <a:fillRect l="-42220" t="0" r="-14735" b="0"/>
            </a:stretch>
          </a:blipFill>
        </p:spPr>
      </p:sp>
      <p:sp>
        <p:nvSpPr>
          <p:cNvPr name="TextBox 12" id="12"/>
          <p:cNvSpPr txBox="true"/>
          <p:nvPr/>
        </p:nvSpPr>
        <p:spPr>
          <a:xfrm rot="0">
            <a:off x="8578953" y="2555408"/>
            <a:ext cx="6682598" cy="1450976"/>
          </a:xfrm>
          <a:prstGeom prst="rect">
            <a:avLst/>
          </a:prstGeom>
        </p:spPr>
        <p:txBody>
          <a:bodyPr anchor="t" rtlCol="false" tIns="0" lIns="0" bIns="0" rIns="0">
            <a:spAutoFit/>
          </a:bodyPr>
          <a:lstStyle/>
          <a:p>
            <a:pPr algn="l">
              <a:lnSpc>
                <a:spcPts val="11899"/>
              </a:lnSpc>
            </a:pPr>
            <a:r>
              <a:rPr lang="en-US" sz="8499">
                <a:solidFill>
                  <a:srgbClr val="5D5340"/>
                </a:solidFill>
                <a:latin typeface="Anton"/>
                <a:ea typeface="Anton"/>
                <a:cs typeface="Anton"/>
                <a:sym typeface="Anton"/>
              </a:rPr>
              <a:t>RESEARCH GAP</a:t>
            </a:r>
          </a:p>
        </p:txBody>
      </p:sp>
      <p:sp>
        <p:nvSpPr>
          <p:cNvPr name="TextBox 13" id="13"/>
          <p:cNvSpPr txBox="true"/>
          <p:nvPr/>
        </p:nvSpPr>
        <p:spPr>
          <a:xfrm rot="0">
            <a:off x="8578953" y="4193372"/>
            <a:ext cx="9709047" cy="5048886"/>
          </a:xfrm>
          <a:prstGeom prst="rect">
            <a:avLst/>
          </a:prstGeom>
        </p:spPr>
        <p:txBody>
          <a:bodyPr anchor="t" rtlCol="false" tIns="0" lIns="0" bIns="0" rIns="0">
            <a:spAutoFit/>
          </a:bodyPr>
          <a:lstStyle/>
          <a:p>
            <a:pPr algn="l" marL="885186" indent="-442593" lvl="1">
              <a:lnSpc>
                <a:spcPts val="5739"/>
              </a:lnSpc>
              <a:buFont typeface="Arial"/>
              <a:buChar char="•"/>
            </a:pPr>
            <a:r>
              <a:rPr lang="en-US" b="true" sz="4099">
                <a:solidFill>
                  <a:srgbClr val="5D5340"/>
                </a:solidFill>
                <a:latin typeface="Monterchi Sans Bold"/>
                <a:ea typeface="Monterchi Sans Bold"/>
                <a:cs typeface="Monterchi Sans Bold"/>
                <a:sym typeface="Monterchi Sans Bold"/>
              </a:rPr>
              <a:t>Existing ride apps (Uber, Kareem) are not designed for AVs or campus use.</a:t>
            </a:r>
          </a:p>
          <a:p>
            <a:pPr algn="l" marL="885186" indent="-442593" lvl="1">
              <a:lnSpc>
                <a:spcPts val="5739"/>
              </a:lnSpc>
              <a:buFont typeface="Arial"/>
              <a:buChar char="•"/>
            </a:pPr>
            <a:r>
              <a:rPr lang="en-US" b="true" sz="4099">
                <a:solidFill>
                  <a:srgbClr val="5D5340"/>
                </a:solidFill>
                <a:latin typeface="Monterchi Sans Bold"/>
                <a:ea typeface="Monterchi Sans Bold"/>
                <a:cs typeface="Monterchi Sans Bold"/>
                <a:sym typeface="Monterchi Sans Bold"/>
              </a:rPr>
              <a:t>AV-r</a:t>
            </a:r>
            <a:r>
              <a:rPr lang="en-US" b="true" sz="4099">
                <a:solidFill>
                  <a:srgbClr val="5D5340"/>
                </a:solidFill>
                <a:latin typeface="Monterchi Sans Bold"/>
                <a:ea typeface="Monterchi Sans Bold"/>
                <a:cs typeface="Monterchi Sans Bold"/>
                <a:sym typeface="Monterchi Sans Bold"/>
              </a:rPr>
              <a:t>elated apps mostly focus on the vehicle itself, not on the user experience.</a:t>
            </a:r>
          </a:p>
          <a:p>
            <a:pPr algn="l" marL="885186" indent="-442593" lvl="1">
              <a:lnSpc>
                <a:spcPts val="5739"/>
              </a:lnSpc>
              <a:buFont typeface="Arial"/>
              <a:buChar char="•"/>
            </a:pPr>
            <a:r>
              <a:rPr lang="en-US" b="true" sz="4099">
                <a:solidFill>
                  <a:srgbClr val="5D5340"/>
                </a:solidFill>
                <a:latin typeface="Monterchi Sans Bold"/>
                <a:ea typeface="Monterchi Sans Bold"/>
                <a:cs typeface="Monterchi Sans Bold"/>
                <a:sym typeface="Monterchi Sans Bold"/>
              </a:rPr>
              <a:t>Limited research on mobile apps connecting users to in-campus AV transport.</a:t>
            </a:r>
          </a:p>
          <a:p>
            <a:pPr algn="l">
              <a:lnSpc>
                <a:spcPts val="5739"/>
              </a:lnSpc>
            </a:pPr>
          </a:p>
        </p:txBody>
      </p:sp>
      <p:sp>
        <p:nvSpPr>
          <p:cNvPr name="TextBox 14" id="14"/>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F9F3"/>
                </a:solidFill>
                <a:latin typeface="Monterchi Sans"/>
                <a:ea typeface="Monterchi Sans"/>
                <a:cs typeface="Monterchi Sans"/>
                <a:sym typeface="Monterchi Sans"/>
              </a:rPr>
              <a:t>Page</a:t>
            </a:r>
          </a:p>
        </p:txBody>
      </p:sp>
      <p:sp>
        <p:nvSpPr>
          <p:cNvPr name="TextBox 15" id="15"/>
          <p:cNvSpPr txBox="true"/>
          <p:nvPr/>
        </p:nvSpPr>
        <p:spPr>
          <a:xfrm rot="0">
            <a:off x="16471512" y="720408"/>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strike="noStrike" u="none">
                <a:solidFill>
                  <a:srgbClr val="5D5340"/>
                </a:solidFill>
                <a:latin typeface="Monterchi Sans Bold"/>
                <a:ea typeface="Monterchi Sans Bold"/>
                <a:cs typeface="Monterchi Sans Bold"/>
                <a:sym typeface="Monterchi Sans Bold"/>
              </a:rPr>
              <a:t>08</a:t>
            </a:r>
          </a:p>
        </p:txBody>
      </p:sp>
      <p:sp>
        <p:nvSpPr>
          <p:cNvPr name="TextBox 16" id="16"/>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Tree>
  </p:cSld>
  <p:clrMapOvr>
    <a:masterClrMapping/>
  </p:clrMapOvr>
  <p:transition spd="fast">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6163462"/>
            <a:ext cx="7530658" cy="2632603"/>
            <a:chOff x="0" y="0"/>
            <a:chExt cx="1166696" cy="407859"/>
          </a:xfrm>
        </p:grpSpPr>
        <p:sp>
          <p:nvSpPr>
            <p:cNvPr name="Freeform 12" id="12"/>
            <p:cNvSpPr/>
            <p:nvPr/>
          </p:nvSpPr>
          <p:spPr>
            <a:xfrm flipH="false" flipV="false" rot="0">
              <a:off x="0" y="0"/>
              <a:ext cx="1166696" cy="407859"/>
            </a:xfrm>
            <a:custGeom>
              <a:avLst/>
              <a:gdLst/>
              <a:ahLst/>
              <a:cxnLst/>
              <a:rect r="r" b="b" t="t" l="l"/>
              <a:pathLst>
                <a:path h="407859" w="1166696">
                  <a:moveTo>
                    <a:pt x="0" y="0"/>
                  </a:moveTo>
                  <a:lnTo>
                    <a:pt x="1166696" y="0"/>
                  </a:lnTo>
                  <a:lnTo>
                    <a:pt x="1166696" y="407859"/>
                  </a:lnTo>
                  <a:lnTo>
                    <a:pt x="0" y="407859"/>
                  </a:lnTo>
                  <a:close/>
                </a:path>
              </a:pathLst>
            </a:custGeom>
            <a:blipFill>
              <a:blip r:embed="rId2"/>
              <a:stretch>
                <a:fillRect l="0" t="0" r="0" b="-114540"/>
              </a:stretch>
            </a:blipFill>
          </p:spPr>
        </p:sp>
      </p:grpSp>
      <p:grpSp>
        <p:nvGrpSpPr>
          <p:cNvPr name="Group 13" id="13"/>
          <p:cNvGrpSpPr/>
          <p:nvPr/>
        </p:nvGrpSpPr>
        <p:grpSpPr>
          <a:xfrm rot="0">
            <a:off x="9728642" y="6163462"/>
            <a:ext cx="7530658" cy="2632603"/>
            <a:chOff x="0" y="0"/>
            <a:chExt cx="1166696" cy="407859"/>
          </a:xfrm>
        </p:grpSpPr>
        <p:sp>
          <p:nvSpPr>
            <p:cNvPr name="Freeform 14" id="14"/>
            <p:cNvSpPr/>
            <p:nvPr/>
          </p:nvSpPr>
          <p:spPr>
            <a:xfrm flipH="false" flipV="false" rot="0">
              <a:off x="0" y="0"/>
              <a:ext cx="1166696" cy="407859"/>
            </a:xfrm>
            <a:custGeom>
              <a:avLst/>
              <a:gdLst/>
              <a:ahLst/>
              <a:cxnLst/>
              <a:rect r="r" b="b" t="t" l="l"/>
              <a:pathLst>
                <a:path h="407859" w="1166696">
                  <a:moveTo>
                    <a:pt x="0" y="0"/>
                  </a:moveTo>
                  <a:lnTo>
                    <a:pt x="1166696" y="0"/>
                  </a:lnTo>
                  <a:lnTo>
                    <a:pt x="1166696" y="407859"/>
                  </a:lnTo>
                  <a:lnTo>
                    <a:pt x="0" y="407859"/>
                  </a:lnTo>
                  <a:close/>
                </a:path>
              </a:pathLst>
            </a:custGeom>
            <a:blipFill>
              <a:blip r:embed="rId3"/>
              <a:stretch>
                <a:fillRect l="0" t="-55226" r="0" b="-55226"/>
              </a:stretch>
            </a:blipFill>
          </p:spPr>
        </p:sp>
      </p:grpSp>
      <p:sp>
        <p:nvSpPr>
          <p:cNvPr name="TextBox 15" id="15"/>
          <p:cNvSpPr txBox="true"/>
          <p:nvPr/>
        </p:nvSpPr>
        <p:spPr>
          <a:xfrm rot="0">
            <a:off x="4742631" y="1830221"/>
            <a:ext cx="8802739" cy="1450976"/>
          </a:xfrm>
          <a:prstGeom prst="rect">
            <a:avLst/>
          </a:prstGeom>
        </p:spPr>
        <p:txBody>
          <a:bodyPr anchor="t" rtlCol="false" tIns="0" lIns="0" bIns="0" rIns="0">
            <a:spAutoFit/>
          </a:bodyPr>
          <a:lstStyle/>
          <a:p>
            <a:pPr algn="ctr">
              <a:lnSpc>
                <a:spcPts val="11899"/>
              </a:lnSpc>
            </a:pPr>
            <a:r>
              <a:rPr lang="en-US" sz="8499">
                <a:solidFill>
                  <a:srgbClr val="414B3B"/>
                </a:solidFill>
                <a:latin typeface="Anton"/>
                <a:ea typeface="Anton"/>
                <a:cs typeface="Anton"/>
                <a:sym typeface="Anton"/>
              </a:rPr>
              <a:t>OBJECTIVES</a:t>
            </a:r>
          </a:p>
        </p:txBody>
      </p:sp>
      <p:sp>
        <p:nvSpPr>
          <p:cNvPr name="TextBox 16" id="16"/>
          <p:cNvSpPr txBox="true"/>
          <p:nvPr/>
        </p:nvSpPr>
        <p:spPr>
          <a:xfrm rot="0">
            <a:off x="1057275" y="4222902"/>
            <a:ext cx="7301704" cy="1073785"/>
          </a:xfrm>
          <a:prstGeom prst="rect">
            <a:avLst/>
          </a:prstGeom>
        </p:spPr>
        <p:txBody>
          <a:bodyPr anchor="t" rtlCol="false" tIns="0" lIns="0" bIns="0" rIns="0">
            <a:spAutoFit/>
          </a:bodyPr>
          <a:lstStyle/>
          <a:p>
            <a:pPr algn="l">
              <a:lnSpc>
                <a:spcPts val="4339"/>
              </a:lnSpc>
            </a:pPr>
            <a:r>
              <a:rPr lang="en-US" sz="3099">
                <a:solidFill>
                  <a:srgbClr val="414B3B"/>
                </a:solidFill>
                <a:latin typeface="Monterchi Sans"/>
                <a:ea typeface="Monterchi Sans"/>
                <a:cs typeface="Monterchi Sans"/>
                <a:sym typeface="Monterchi Sans"/>
              </a:rPr>
              <a:t> Design an intuitive mobile interface for passengers to interact with the AV and track its data.</a:t>
            </a:r>
          </a:p>
        </p:txBody>
      </p:sp>
      <p:sp>
        <p:nvSpPr>
          <p:cNvPr name="TextBox 17" id="17"/>
          <p:cNvSpPr txBox="true"/>
          <p:nvPr/>
        </p:nvSpPr>
        <p:spPr>
          <a:xfrm rot="0">
            <a:off x="1028700" y="3528847"/>
            <a:ext cx="9489432" cy="679450"/>
          </a:xfrm>
          <a:prstGeom prst="rect">
            <a:avLst/>
          </a:prstGeom>
        </p:spPr>
        <p:txBody>
          <a:bodyPr anchor="t" rtlCol="false" tIns="0" lIns="0" bIns="0" rIns="0">
            <a:spAutoFit/>
          </a:bodyPr>
          <a:lstStyle/>
          <a:p>
            <a:pPr algn="l" marL="863599" indent="-431800" lvl="1">
              <a:lnSpc>
                <a:spcPts val="5599"/>
              </a:lnSpc>
              <a:buFont typeface="Arial"/>
              <a:buChar char="•"/>
            </a:pPr>
            <a:r>
              <a:rPr lang="en-US" b="true" sz="3999">
                <a:solidFill>
                  <a:srgbClr val="414B3B"/>
                </a:solidFill>
                <a:latin typeface="Monterchi Sans Bold"/>
                <a:ea typeface="Monterchi Sans Bold"/>
                <a:cs typeface="Monterchi Sans Bold"/>
                <a:sym typeface="Monterchi Sans Bold"/>
              </a:rPr>
              <a:t>Passenger User Interface</a:t>
            </a:r>
          </a:p>
        </p:txBody>
      </p:sp>
      <p:sp>
        <p:nvSpPr>
          <p:cNvPr name="TextBox 18" id="18"/>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F9F3"/>
                </a:solidFill>
                <a:latin typeface="Monterchi Sans"/>
                <a:ea typeface="Monterchi Sans"/>
                <a:cs typeface="Monterchi Sans"/>
                <a:sym typeface="Monterchi Sans"/>
              </a:rPr>
              <a:t>Page</a:t>
            </a:r>
          </a:p>
        </p:txBody>
      </p:sp>
      <p:sp>
        <p:nvSpPr>
          <p:cNvPr name="TextBox 19" id="19"/>
          <p:cNvSpPr txBox="true"/>
          <p:nvPr/>
        </p:nvSpPr>
        <p:spPr>
          <a:xfrm rot="0">
            <a:off x="16471512" y="720408"/>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strike="noStrike" u="none">
                <a:solidFill>
                  <a:srgbClr val="5D5340"/>
                </a:solidFill>
                <a:latin typeface="Monterchi Sans Bold"/>
                <a:ea typeface="Monterchi Sans Bold"/>
                <a:cs typeface="Monterchi Sans Bold"/>
                <a:sym typeface="Monterchi Sans Bold"/>
              </a:rPr>
              <a:t>09</a:t>
            </a:r>
          </a:p>
        </p:txBody>
      </p:sp>
      <p:sp>
        <p:nvSpPr>
          <p:cNvPr name="TextBox 20" id="20"/>
          <p:cNvSpPr txBox="true"/>
          <p:nvPr/>
        </p:nvSpPr>
        <p:spPr>
          <a:xfrm rot="0">
            <a:off x="9957596" y="4222902"/>
            <a:ext cx="7301704" cy="1073785"/>
          </a:xfrm>
          <a:prstGeom prst="rect">
            <a:avLst/>
          </a:prstGeom>
        </p:spPr>
        <p:txBody>
          <a:bodyPr anchor="t" rtlCol="false" tIns="0" lIns="0" bIns="0" rIns="0">
            <a:spAutoFit/>
          </a:bodyPr>
          <a:lstStyle/>
          <a:p>
            <a:pPr algn="l">
              <a:lnSpc>
                <a:spcPts val="4339"/>
              </a:lnSpc>
            </a:pPr>
            <a:r>
              <a:rPr lang="en-US" sz="3099">
                <a:solidFill>
                  <a:srgbClr val="414B3B"/>
                </a:solidFill>
                <a:latin typeface="Monterchi Sans"/>
                <a:ea typeface="Monterchi Sans"/>
                <a:cs typeface="Monterchi Sans"/>
                <a:sym typeface="Monterchi Sans"/>
              </a:rPr>
              <a:t>Display live camera feeds with bounding boxes on detected pedestrains,vehicles and scene objects.</a:t>
            </a:r>
          </a:p>
        </p:txBody>
      </p:sp>
      <p:sp>
        <p:nvSpPr>
          <p:cNvPr name="TextBox 21" id="21"/>
          <p:cNvSpPr txBox="true"/>
          <p:nvPr/>
        </p:nvSpPr>
        <p:spPr>
          <a:xfrm rot="0">
            <a:off x="9375447" y="3528847"/>
            <a:ext cx="8963382" cy="679450"/>
          </a:xfrm>
          <a:prstGeom prst="rect">
            <a:avLst/>
          </a:prstGeom>
        </p:spPr>
        <p:txBody>
          <a:bodyPr anchor="t" rtlCol="false" tIns="0" lIns="0" bIns="0" rIns="0">
            <a:spAutoFit/>
          </a:bodyPr>
          <a:lstStyle/>
          <a:p>
            <a:pPr algn="l" marL="863599" indent="-431800" lvl="1">
              <a:lnSpc>
                <a:spcPts val="5599"/>
              </a:lnSpc>
              <a:buFont typeface="Arial"/>
              <a:buChar char="•"/>
            </a:pPr>
            <a:r>
              <a:rPr lang="en-US" b="true" sz="3999">
                <a:solidFill>
                  <a:srgbClr val="414B3B"/>
                </a:solidFill>
                <a:latin typeface="Monterchi Sans Bold"/>
                <a:ea typeface="Monterchi Sans Bold"/>
                <a:cs typeface="Monterchi Sans Bold"/>
                <a:sym typeface="Monterchi Sans Bold"/>
              </a:rPr>
              <a:t>R</a:t>
            </a:r>
            <a:r>
              <a:rPr lang="en-US" b="true" sz="3999">
                <a:solidFill>
                  <a:srgbClr val="414B3B"/>
                </a:solidFill>
                <a:latin typeface="Monterchi Sans Bold"/>
                <a:ea typeface="Monterchi Sans Bold"/>
                <a:cs typeface="Monterchi Sans Bold"/>
                <a:sym typeface="Monterchi Sans Bold"/>
              </a:rPr>
              <a:t>eal-time AV camera </a:t>
            </a:r>
          </a:p>
        </p:txBody>
      </p:sp>
      <p:sp>
        <p:nvSpPr>
          <p:cNvPr name="TextBox 22" id="22"/>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Tree>
  </p:cSld>
  <p:clrMapOvr>
    <a:masterClrMapping/>
  </p:clrMapOvr>
  <p:transition spd="fast">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6163462"/>
            <a:ext cx="7530658" cy="2632603"/>
            <a:chOff x="0" y="0"/>
            <a:chExt cx="1166696" cy="407859"/>
          </a:xfrm>
        </p:grpSpPr>
        <p:sp>
          <p:nvSpPr>
            <p:cNvPr name="Freeform 12" id="12"/>
            <p:cNvSpPr/>
            <p:nvPr/>
          </p:nvSpPr>
          <p:spPr>
            <a:xfrm flipH="false" flipV="false" rot="0">
              <a:off x="0" y="0"/>
              <a:ext cx="1166696" cy="407859"/>
            </a:xfrm>
            <a:custGeom>
              <a:avLst/>
              <a:gdLst/>
              <a:ahLst/>
              <a:cxnLst/>
              <a:rect r="r" b="b" t="t" l="l"/>
              <a:pathLst>
                <a:path h="407859" w="1166696">
                  <a:moveTo>
                    <a:pt x="0" y="0"/>
                  </a:moveTo>
                  <a:lnTo>
                    <a:pt x="1166696" y="0"/>
                  </a:lnTo>
                  <a:lnTo>
                    <a:pt x="1166696" y="407859"/>
                  </a:lnTo>
                  <a:lnTo>
                    <a:pt x="0" y="407859"/>
                  </a:lnTo>
                  <a:close/>
                </a:path>
              </a:pathLst>
            </a:custGeom>
            <a:blipFill>
              <a:blip r:embed="rId2"/>
              <a:stretch>
                <a:fillRect l="-7863" t="-28446" r="-19173" b="-59155"/>
              </a:stretch>
            </a:blipFill>
          </p:spPr>
        </p:sp>
      </p:grpSp>
      <p:sp>
        <p:nvSpPr>
          <p:cNvPr name="TextBox 13" id="13"/>
          <p:cNvSpPr txBox="true"/>
          <p:nvPr/>
        </p:nvSpPr>
        <p:spPr>
          <a:xfrm rot="0">
            <a:off x="4742631" y="1830221"/>
            <a:ext cx="8802739" cy="1450976"/>
          </a:xfrm>
          <a:prstGeom prst="rect">
            <a:avLst/>
          </a:prstGeom>
        </p:spPr>
        <p:txBody>
          <a:bodyPr anchor="t" rtlCol="false" tIns="0" lIns="0" bIns="0" rIns="0">
            <a:spAutoFit/>
          </a:bodyPr>
          <a:lstStyle/>
          <a:p>
            <a:pPr algn="ctr">
              <a:lnSpc>
                <a:spcPts val="11899"/>
              </a:lnSpc>
            </a:pPr>
            <a:r>
              <a:rPr lang="en-US" sz="8499">
                <a:solidFill>
                  <a:srgbClr val="414B3B"/>
                </a:solidFill>
                <a:latin typeface="Anton"/>
                <a:ea typeface="Anton"/>
                <a:cs typeface="Anton"/>
                <a:sym typeface="Anton"/>
              </a:rPr>
              <a:t>OBJECTIVES</a:t>
            </a:r>
          </a:p>
        </p:txBody>
      </p:sp>
      <p:sp>
        <p:nvSpPr>
          <p:cNvPr name="TextBox 14" id="14"/>
          <p:cNvSpPr txBox="true"/>
          <p:nvPr/>
        </p:nvSpPr>
        <p:spPr>
          <a:xfrm rot="0">
            <a:off x="1057275" y="4222902"/>
            <a:ext cx="7301704" cy="1073785"/>
          </a:xfrm>
          <a:prstGeom prst="rect">
            <a:avLst/>
          </a:prstGeom>
        </p:spPr>
        <p:txBody>
          <a:bodyPr anchor="t" rtlCol="false" tIns="0" lIns="0" bIns="0" rIns="0">
            <a:spAutoFit/>
          </a:bodyPr>
          <a:lstStyle/>
          <a:p>
            <a:pPr algn="l">
              <a:lnSpc>
                <a:spcPts val="4339"/>
              </a:lnSpc>
            </a:pPr>
            <a:r>
              <a:rPr lang="en-US" sz="3099">
                <a:solidFill>
                  <a:srgbClr val="414B3B"/>
                </a:solidFill>
                <a:latin typeface="Monterchi Sans"/>
                <a:ea typeface="Monterchi Sans"/>
                <a:cs typeface="Monterchi Sans"/>
                <a:sym typeface="Monterchi Sans"/>
              </a:rPr>
              <a:t>Alert users about important events during the ride.</a:t>
            </a:r>
          </a:p>
          <a:p>
            <a:pPr algn="l">
              <a:lnSpc>
                <a:spcPts val="4339"/>
              </a:lnSpc>
            </a:pPr>
            <a:r>
              <a:rPr lang="en-US" sz="3099">
                <a:solidFill>
                  <a:srgbClr val="414B3B"/>
                </a:solidFill>
                <a:latin typeface="Monterchi Sans"/>
                <a:ea typeface="Monterchi Sans"/>
                <a:cs typeface="Monterchi Sans"/>
                <a:sym typeface="Monterchi Sans"/>
              </a:rPr>
              <a:t>eg: pedestrain crosssing the street</a:t>
            </a:r>
          </a:p>
        </p:txBody>
      </p:sp>
      <p:sp>
        <p:nvSpPr>
          <p:cNvPr name="TextBox 15" id="15"/>
          <p:cNvSpPr txBox="true"/>
          <p:nvPr/>
        </p:nvSpPr>
        <p:spPr>
          <a:xfrm rot="0">
            <a:off x="468164" y="3528847"/>
            <a:ext cx="9489432" cy="1384300"/>
          </a:xfrm>
          <a:prstGeom prst="rect">
            <a:avLst/>
          </a:prstGeom>
        </p:spPr>
        <p:txBody>
          <a:bodyPr anchor="t" rtlCol="false" tIns="0" lIns="0" bIns="0" rIns="0">
            <a:spAutoFit/>
          </a:bodyPr>
          <a:lstStyle/>
          <a:p>
            <a:pPr algn="l" marL="863599" indent="-431800" lvl="1">
              <a:lnSpc>
                <a:spcPts val="5599"/>
              </a:lnSpc>
              <a:buFont typeface="Arial"/>
              <a:buChar char="•"/>
            </a:pPr>
            <a:r>
              <a:rPr lang="en-US" b="true" sz="3999">
                <a:solidFill>
                  <a:srgbClr val="414B3B"/>
                </a:solidFill>
                <a:latin typeface="Monterchi Sans Bold"/>
                <a:ea typeface="Monterchi Sans Bold"/>
                <a:cs typeface="Monterchi Sans Bold"/>
                <a:sym typeface="Monterchi Sans Bold"/>
              </a:rPr>
              <a:t>Notification system for critical events</a:t>
            </a:r>
          </a:p>
          <a:p>
            <a:pPr algn="l">
              <a:lnSpc>
                <a:spcPts val="5599"/>
              </a:lnSpc>
            </a:pPr>
          </a:p>
        </p:txBody>
      </p:sp>
      <p:sp>
        <p:nvSpPr>
          <p:cNvPr name="TextBox 16" id="16"/>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F9F3"/>
                </a:solidFill>
                <a:latin typeface="Monterchi Sans"/>
                <a:ea typeface="Monterchi Sans"/>
                <a:cs typeface="Monterchi Sans"/>
                <a:sym typeface="Monterchi Sans"/>
              </a:rPr>
              <a:t>Page</a:t>
            </a:r>
          </a:p>
        </p:txBody>
      </p:sp>
      <p:sp>
        <p:nvSpPr>
          <p:cNvPr name="TextBox 17" id="17"/>
          <p:cNvSpPr txBox="true"/>
          <p:nvPr/>
        </p:nvSpPr>
        <p:spPr>
          <a:xfrm rot="0">
            <a:off x="16471512" y="720408"/>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5D5340"/>
                </a:solidFill>
                <a:latin typeface="Monterchi Sans Bold"/>
                <a:ea typeface="Monterchi Sans Bold"/>
                <a:cs typeface="Monterchi Sans Bold"/>
                <a:sym typeface="Monterchi Sans Bold"/>
              </a:rPr>
              <a:t>10</a:t>
            </a:r>
          </a:p>
        </p:txBody>
      </p:sp>
      <p:sp>
        <p:nvSpPr>
          <p:cNvPr name="TextBox 18" id="18"/>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grpSp>
        <p:nvGrpSpPr>
          <p:cNvPr name="Group 19" id="19"/>
          <p:cNvGrpSpPr/>
          <p:nvPr/>
        </p:nvGrpSpPr>
        <p:grpSpPr>
          <a:xfrm rot="0">
            <a:off x="9728642" y="6163462"/>
            <a:ext cx="7530658" cy="2632603"/>
            <a:chOff x="0" y="0"/>
            <a:chExt cx="1166696" cy="407859"/>
          </a:xfrm>
        </p:grpSpPr>
        <p:sp>
          <p:nvSpPr>
            <p:cNvPr name="Freeform 20" id="20"/>
            <p:cNvSpPr/>
            <p:nvPr/>
          </p:nvSpPr>
          <p:spPr>
            <a:xfrm flipH="false" flipV="false" rot="0">
              <a:off x="0" y="0"/>
              <a:ext cx="1166696" cy="407859"/>
            </a:xfrm>
            <a:custGeom>
              <a:avLst/>
              <a:gdLst/>
              <a:ahLst/>
              <a:cxnLst/>
              <a:rect r="r" b="b" t="t" l="l"/>
              <a:pathLst>
                <a:path h="407859" w="1166696">
                  <a:moveTo>
                    <a:pt x="0" y="0"/>
                  </a:moveTo>
                  <a:lnTo>
                    <a:pt x="1166696" y="0"/>
                  </a:lnTo>
                  <a:lnTo>
                    <a:pt x="1166696" y="407859"/>
                  </a:lnTo>
                  <a:lnTo>
                    <a:pt x="0" y="407859"/>
                  </a:lnTo>
                  <a:close/>
                </a:path>
              </a:pathLst>
            </a:custGeom>
            <a:blipFill>
              <a:blip r:embed="rId3"/>
              <a:stretch>
                <a:fillRect l="0" t="-62589" r="0" b="-14048"/>
              </a:stretch>
            </a:blipFill>
          </p:spPr>
        </p:sp>
      </p:grpSp>
      <p:sp>
        <p:nvSpPr>
          <p:cNvPr name="TextBox 21" id="21"/>
          <p:cNvSpPr txBox="true"/>
          <p:nvPr/>
        </p:nvSpPr>
        <p:spPr>
          <a:xfrm rot="0">
            <a:off x="9957596" y="4222902"/>
            <a:ext cx="7301704" cy="1073785"/>
          </a:xfrm>
          <a:prstGeom prst="rect">
            <a:avLst/>
          </a:prstGeom>
        </p:spPr>
        <p:txBody>
          <a:bodyPr anchor="t" rtlCol="false" tIns="0" lIns="0" bIns="0" rIns="0">
            <a:spAutoFit/>
          </a:bodyPr>
          <a:lstStyle/>
          <a:p>
            <a:pPr algn="l">
              <a:lnSpc>
                <a:spcPts val="4339"/>
              </a:lnSpc>
            </a:pPr>
            <a:r>
              <a:rPr lang="en-US" sz="3099">
                <a:solidFill>
                  <a:srgbClr val="414B3B"/>
                </a:solidFill>
                <a:latin typeface="Monterchi Sans"/>
                <a:ea typeface="Monterchi Sans"/>
                <a:cs typeface="Monterchi Sans"/>
                <a:sym typeface="Monterchi Sans"/>
              </a:rPr>
              <a:t>Provide passengers with essential journey information</a:t>
            </a:r>
          </a:p>
        </p:txBody>
      </p:sp>
      <p:sp>
        <p:nvSpPr>
          <p:cNvPr name="TextBox 22" id="22"/>
          <p:cNvSpPr txBox="true"/>
          <p:nvPr/>
        </p:nvSpPr>
        <p:spPr>
          <a:xfrm rot="0">
            <a:off x="9375447" y="3528847"/>
            <a:ext cx="8963382" cy="679450"/>
          </a:xfrm>
          <a:prstGeom prst="rect">
            <a:avLst/>
          </a:prstGeom>
        </p:spPr>
        <p:txBody>
          <a:bodyPr anchor="t" rtlCol="false" tIns="0" lIns="0" bIns="0" rIns="0">
            <a:spAutoFit/>
          </a:bodyPr>
          <a:lstStyle/>
          <a:p>
            <a:pPr algn="l" marL="863599" indent="-431800" lvl="1">
              <a:lnSpc>
                <a:spcPts val="5599"/>
              </a:lnSpc>
              <a:buFont typeface="Arial"/>
              <a:buChar char="•"/>
            </a:pPr>
            <a:r>
              <a:rPr lang="en-US" b="true" sz="3999">
                <a:solidFill>
                  <a:srgbClr val="414B3B"/>
                </a:solidFill>
                <a:latin typeface="Monterchi Sans Bold"/>
                <a:ea typeface="Monterchi Sans Bold"/>
                <a:cs typeface="Monterchi Sans Bold"/>
                <a:sym typeface="Monterchi Sans Bold"/>
              </a:rPr>
              <a:t>R</a:t>
            </a:r>
            <a:r>
              <a:rPr lang="en-US" b="true" sz="3999">
                <a:solidFill>
                  <a:srgbClr val="414B3B"/>
                </a:solidFill>
                <a:latin typeface="Monterchi Sans Bold"/>
                <a:ea typeface="Monterchi Sans Bold"/>
                <a:cs typeface="Monterchi Sans Bold"/>
                <a:sym typeface="Monterchi Sans Bold"/>
              </a:rPr>
              <a:t>ide info: location, speed, ETA</a:t>
            </a:r>
          </a:p>
        </p:txBody>
      </p:sp>
    </p:spTree>
  </p:cSld>
  <p:clrMapOvr>
    <a:masterClrMapping/>
  </p:clrMapOvr>
  <p:transition spd="fast">
    <p:push dir="l"/>
  </p:transition>
</p:sld>
</file>

<file path=ppt/slides/slide11.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3264930"/>
            <a:ext cx="5541000" cy="1145286"/>
            <a:chOff x="0" y="0"/>
            <a:chExt cx="1459358" cy="301639"/>
          </a:xfrm>
        </p:grpSpPr>
        <p:sp>
          <p:nvSpPr>
            <p:cNvPr name="Freeform 12" id="12"/>
            <p:cNvSpPr/>
            <p:nvPr/>
          </p:nvSpPr>
          <p:spPr>
            <a:xfrm flipH="false" flipV="false" rot="0">
              <a:off x="0" y="0"/>
              <a:ext cx="1459358" cy="301639"/>
            </a:xfrm>
            <a:custGeom>
              <a:avLst/>
              <a:gdLst/>
              <a:ahLst/>
              <a:cxnLst/>
              <a:rect r="r" b="b" t="t" l="l"/>
              <a:pathLst>
                <a:path h="301639" w="1459358">
                  <a:moveTo>
                    <a:pt x="0" y="0"/>
                  </a:moveTo>
                  <a:lnTo>
                    <a:pt x="1459358" y="0"/>
                  </a:lnTo>
                  <a:lnTo>
                    <a:pt x="1459358" y="301639"/>
                  </a:lnTo>
                  <a:lnTo>
                    <a:pt x="0" y="301639"/>
                  </a:lnTo>
                  <a:close/>
                </a:path>
              </a:pathLst>
            </a:custGeom>
            <a:solidFill>
              <a:srgbClr val="8CA87C"/>
            </a:solidFill>
            <a:ln w="114300" cap="sq">
              <a:solidFill>
                <a:srgbClr val="2B3425"/>
              </a:solidFill>
              <a:prstDash val="solid"/>
              <a:miter/>
            </a:ln>
          </p:spPr>
        </p:sp>
        <p:sp>
          <p:nvSpPr>
            <p:cNvPr name="TextBox 13" id="13"/>
            <p:cNvSpPr txBox="true"/>
            <p:nvPr/>
          </p:nvSpPr>
          <p:spPr>
            <a:xfrm>
              <a:off x="0" y="-76200"/>
              <a:ext cx="1459358" cy="377839"/>
            </a:xfrm>
            <a:prstGeom prst="rect">
              <a:avLst/>
            </a:prstGeom>
          </p:spPr>
          <p:txBody>
            <a:bodyPr anchor="ctr" rtlCol="false" tIns="50800" lIns="50800" bIns="50800" rIns="50800"/>
            <a:lstStyle/>
            <a:p>
              <a:pPr algn="ctr">
                <a:lnSpc>
                  <a:spcPts val="5599"/>
                </a:lnSpc>
              </a:pPr>
              <a:r>
                <a:rPr lang="en-US" b="true" sz="3999" strike="noStrike" u="none">
                  <a:solidFill>
                    <a:srgbClr val="414B3B"/>
                  </a:solidFill>
                  <a:latin typeface="Monterchi Sans Bold"/>
                  <a:ea typeface="Monterchi Sans Bold"/>
                  <a:cs typeface="Monterchi Sans Bold"/>
                  <a:sym typeface="Monterchi Sans Bold"/>
                </a:rPr>
                <a:t>Planning</a:t>
              </a:r>
            </a:p>
          </p:txBody>
        </p:sp>
      </p:grpSp>
      <p:sp>
        <p:nvSpPr>
          <p:cNvPr name="TextBox 14" id="14"/>
          <p:cNvSpPr txBox="true"/>
          <p:nvPr/>
        </p:nvSpPr>
        <p:spPr>
          <a:xfrm rot="0">
            <a:off x="1028700" y="1661554"/>
            <a:ext cx="7273782" cy="1450976"/>
          </a:xfrm>
          <a:prstGeom prst="rect">
            <a:avLst/>
          </a:prstGeom>
        </p:spPr>
        <p:txBody>
          <a:bodyPr anchor="t" rtlCol="false" tIns="0" lIns="0" bIns="0" rIns="0">
            <a:spAutoFit/>
          </a:bodyPr>
          <a:lstStyle/>
          <a:p>
            <a:pPr algn="l">
              <a:lnSpc>
                <a:spcPts val="11899"/>
              </a:lnSpc>
            </a:pPr>
            <a:r>
              <a:rPr lang="en-US" sz="8499">
                <a:solidFill>
                  <a:srgbClr val="414B3B"/>
                </a:solidFill>
                <a:latin typeface="Anton"/>
                <a:ea typeface="Anton"/>
                <a:cs typeface="Anton"/>
                <a:sym typeface="Anton"/>
              </a:rPr>
              <a:t>METHODOLOGY</a:t>
            </a:r>
          </a:p>
        </p:txBody>
      </p:sp>
      <p:sp>
        <p:nvSpPr>
          <p:cNvPr name="TextBox 15" id="15"/>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EBEB"/>
                </a:solidFill>
                <a:latin typeface="Monterchi Sans"/>
                <a:ea typeface="Monterchi Sans"/>
                <a:cs typeface="Monterchi Sans"/>
                <a:sym typeface="Monterchi Sans"/>
              </a:rPr>
              <a:t>Page</a:t>
            </a:r>
          </a:p>
        </p:txBody>
      </p:sp>
      <p:sp>
        <p:nvSpPr>
          <p:cNvPr name="TextBox 16" id="16"/>
          <p:cNvSpPr txBox="true"/>
          <p:nvPr/>
        </p:nvSpPr>
        <p:spPr>
          <a:xfrm rot="0">
            <a:off x="16471512" y="720408"/>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5D5340"/>
                </a:solidFill>
                <a:latin typeface="Monterchi Sans Bold"/>
                <a:ea typeface="Monterchi Sans Bold"/>
                <a:cs typeface="Monterchi Sans Bold"/>
                <a:sym typeface="Monterchi Sans Bold"/>
              </a:rPr>
              <a:t>11</a:t>
            </a:r>
          </a:p>
        </p:txBody>
      </p:sp>
      <p:sp>
        <p:nvSpPr>
          <p:cNvPr name="TextBox 17" id="17"/>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grpSp>
        <p:nvGrpSpPr>
          <p:cNvPr name="Group 18" id="18"/>
          <p:cNvGrpSpPr/>
          <p:nvPr/>
        </p:nvGrpSpPr>
        <p:grpSpPr>
          <a:xfrm rot="0">
            <a:off x="1028700" y="4838680"/>
            <a:ext cx="5541000" cy="1040350"/>
            <a:chOff x="0" y="0"/>
            <a:chExt cx="1459358" cy="274002"/>
          </a:xfrm>
        </p:grpSpPr>
        <p:sp>
          <p:nvSpPr>
            <p:cNvPr name="Freeform 19" id="19"/>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20" id="20"/>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a:solidFill>
                    <a:srgbClr val="414B3B"/>
                  </a:solidFill>
                  <a:latin typeface="Monterchi Sans Bold"/>
                  <a:ea typeface="Monterchi Sans Bold"/>
                  <a:cs typeface="Monterchi Sans Bold"/>
                  <a:sym typeface="Monterchi Sans Bold"/>
                </a:rPr>
                <a:t>Designing</a:t>
              </a:r>
            </a:p>
          </p:txBody>
        </p:sp>
      </p:grpSp>
      <p:grpSp>
        <p:nvGrpSpPr>
          <p:cNvPr name="Group 21" id="21"/>
          <p:cNvGrpSpPr/>
          <p:nvPr/>
        </p:nvGrpSpPr>
        <p:grpSpPr>
          <a:xfrm rot="0">
            <a:off x="1028700" y="6528315"/>
            <a:ext cx="5541000" cy="1040350"/>
            <a:chOff x="0" y="0"/>
            <a:chExt cx="1459358" cy="274002"/>
          </a:xfrm>
        </p:grpSpPr>
        <p:sp>
          <p:nvSpPr>
            <p:cNvPr name="Freeform 22" id="22"/>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23" id="23"/>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Development</a:t>
              </a:r>
            </a:p>
          </p:txBody>
        </p:sp>
      </p:grpSp>
      <p:grpSp>
        <p:nvGrpSpPr>
          <p:cNvPr name="Group 24" id="24"/>
          <p:cNvGrpSpPr/>
          <p:nvPr/>
        </p:nvGrpSpPr>
        <p:grpSpPr>
          <a:xfrm rot="0">
            <a:off x="1028700" y="8102065"/>
            <a:ext cx="5541000" cy="1040350"/>
            <a:chOff x="0" y="0"/>
            <a:chExt cx="1459358" cy="274002"/>
          </a:xfrm>
        </p:grpSpPr>
        <p:sp>
          <p:nvSpPr>
            <p:cNvPr name="Freeform 25" id="25"/>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26" id="26"/>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Testing</a:t>
              </a:r>
            </a:p>
          </p:txBody>
        </p:sp>
      </p:grpSp>
      <p:sp>
        <p:nvSpPr>
          <p:cNvPr name="TextBox 27" id="27"/>
          <p:cNvSpPr txBox="true"/>
          <p:nvPr/>
        </p:nvSpPr>
        <p:spPr>
          <a:xfrm rot="0">
            <a:off x="6569700" y="3179205"/>
            <a:ext cx="11420125" cy="4324986"/>
          </a:xfrm>
          <a:prstGeom prst="rect">
            <a:avLst/>
          </a:prstGeom>
        </p:spPr>
        <p:txBody>
          <a:bodyPr anchor="t" rtlCol="false" tIns="0" lIns="0" bIns="0" rIns="0">
            <a:spAutoFit/>
          </a:bodyPr>
          <a:lstStyle/>
          <a:p>
            <a:pPr algn="ctr">
              <a:lnSpc>
                <a:spcPts val="5739"/>
              </a:lnSpc>
            </a:pPr>
            <a:r>
              <a:rPr lang="en-US" sz="4099" b="true">
                <a:solidFill>
                  <a:srgbClr val="5D5340"/>
                </a:solidFill>
                <a:latin typeface="Monterchi Sans Bold"/>
                <a:ea typeface="Monterchi Sans Bold"/>
                <a:cs typeface="Monterchi Sans Bold"/>
                <a:sym typeface="Monterchi Sans Bold"/>
              </a:rPr>
              <a:t>WEEK 1</a:t>
            </a:r>
          </a:p>
          <a:p>
            <a:pPr algn="ctr">
              <a:lnSpc>
                <a:spcPts val="5739"/>
              </a:lnSpc>
            </a:pP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Co</a:t>
            </a:r>
            <a:r>
              <a:rPr lang="en-US" b="true" sz="4099" strike="noStrike" u="none">
                <a:solidFill>
                  <a:srgbClr val="5D5340"/>
                </a:solidFill>
                <a:latin typeface="Monterchi Sans Bold"/>
                <a:ea typeface="Monterchi Sans Bold"/>
                <a:cs typeface="Monterchi Sans Bold"/>
                <a:sym typeface="Monterchi Sans Bold"/>
              </a:rPr>
              <a:t>lle</a:t>
            </a:r>
            <a:r>
              <a:rPr lang="en-US" b="true" sz="4099" strike="noStrike" u="none">
                <a:solidFill>
                  <a:srgbClr val="5D5340"/>
                </a:solidFill>
                <a:latin typeface="Monterchi Sans Bold"/>
                <a:ea typeface="Monterchi Sans Bold"/>
                <a:cs typeface="Monterchi Sans Bold"/>
                <a:sym typeface="Monterchi Sans Bold"/>
              </a:rPr>
              <a:t>cted i</a:t>
            </a:r>
            <a:r>
              <a:rPr lang="en-US" b="true" sz="4099" strike="noStrike" u="none">
                <a:solidFill>
                  <a:srgbClr val="5D5340"/>
                </a:solidFill>
                <a:latin typeface="Monterchi Sans Bold"/>
                <a:ea typeface="Monterchi Sans Bold"/>
                <a:cs typeface="Monterchi Sans Bold"/>
                <a:sym typeface="Monterchi Sans Bold"/>
              </a:rPr>
              <a:t>nfo</a:t>
            </a:r>
            <a:r>
              <a:rPr lang="en-US" b="true" sz="4099" strike="noStrike" u="none">
                <a:solidFill>
                  <a:srgbClr val="5D5340"/>
                </a:solidFill>
                <a:latin typeface="Monterchi Sans Bold"/>
                <a:ea typeface="Monterchi Sans Bold"/>
                <a:cs typeface="Monterchi Sans Bold"/>
                <a:sym typeface="Monterchi Sans Bold"/>
              </a:rPr>
              <a:t>rmati</a:t>
            </a:r>
            <a:r>
              <a:rPr lang="en-US" b="true" sz="4099" strike="noStrike" u="none">
                <a:solidFill>
                  <a:srgbClr val="5D5340"/>
                </a:solidFill>
                <a:latin typeface="Monterchi Sans Bold"/>
                <a:ea typeface="Monterchi Sans Bold"/>
                <a:cs typeface="Monterchi Sans Bold"/>
                <a:sym typeface="Monterchi Sans Bold"/>
              </a:rPr>
              <a:t>o</a:t>
            </a:r>
            <a:r>
              <a:rPr lang="en-US" b="true" sz="4099" strike="noStrike" u="none">
                <a:solidFill>
                  <a:srgbClr val="5D5340"/>
                </a:solidFill>
                <a:latin typeface="Monterchi Sans Bold"/>
                <a:ea typeface="Monterchi Sans Bold"/>
                <a:cs typeface="Monterchi Sans Bold"/>
                <a:sym typeface="Monterchi Sans Bold"/>
              </a:rPr>
              <a:t>n to understand the project and</a:t>
            </a:r>
            <a:r>
              <a:rPr lang="en-US" b="true" sz="4099" strike="noStrike" u="none">
                <a:solidFill>
                  <a:srgbClr val="5D5340"/>
                </a:solidFill>
                <a:latin typeface="Monterchi Sans Bold"/>
                <a:ea typeface="Monterchi Sans Bold"/>
                <a:cs typeface="Monterchi Sans Bold"/>
                <a:sym typeface="Monterchi Sans Bold"/>
              </a:rPr>
              <a:t> what</a:t>
            </a:r>
            <a:r>
              <a:rPr lang="en-US" b="true" sz="4099" strike="noStrike" u="none">
                <a:solidFill>
                  <a:srgbClr val="5D5340"/>
                </a:solidFill>
                <a:latin typeface="Monterchi Sans Bold"/>
                <a:ea typeface="Monterchi Sans Bold"/>
                <a:cs typeface="Monterchi Sans Bold"/>
                <a:sym typeface="Monterchi Sans Bold"/>
              </a:rPr>
              <a:t> user</a:t>
            </a:r>
            <a:r>
              <a:rPr lang="en-US" b="true" sz="4099" strike="noStrike" u="none">
                <a:solidFill>
                  <a:srgbClr val="5D5340"/>
                </a:solidFill>
                <a:latin typeface="Monterchi Sans Bold"/>
                <a:ea typeface="Monterchi Sans Bold"/>
                <a:cs typeface="Monterchi Sans Bold"/>
                <a:sym typeface="Monterchi Sans Bold"/>
              </a:rPr>
              <a:t>s</a:t>
            </a:r>
            <a:r>
              <a:rPr lang="en-US" b="true" sz="4099" strike="noStrike" u="none">
                <a:solidFill>
                  <a:srgbClr val="5D5340"/>
                </a:solidFill>
                <a:latin typeface="Monterchi Sans Bold"/>
                <a:ea typeface="Monterchi Sans Bold"/>
                <a:cs typeface="Monterchi Sans Bold"/>
                <a:sym typeface="Monterchi Sans Bold"/>
              </a:rPr>
              <a:t> need.</a:t>
            </a: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Researched</a:t>
            </a:r>
            <a:r>
              <a:rPr lang="en-US" b="true" sz="4099" strike="noStrike" u="none">
                <a:solidFill>
                  <a:srgbClr val="5D5340"/>
                </a:solidFill>
                <a:latin typeface="Monterchi Sans Bold"/>
                <a:ea typeface="Monterchi Sans Bold"/>
                <a:cs typeface="Monterchi Sans Bold"/>
                <a:sym typeface="Monterchi Sans Bold"/>
              </a:rPr>
              <a:t> similar apps and AV systems to get ideas.</a:t>
            </a: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Started planning what basic features are needed</a:t>
            </a:r>
          </a:p>
        </p:txBody>
      </p:sp>
    </p:spTree>
  </p:cSld>
  <p:clrMapOvr>
    <a:masterClrMapping/>
  </p:clrMapOvr>
  <p:transition spd="fast">
    <p:push dir="l"/>
  </p:transition>
</p:sld>
</file>

<file path=ppt/slides/slide12.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3264930"/>
            <a:ext cx="5541000" cy="1040350"/>
            <a:chOff x="0" y="0"/>
            <a:chExt cx="1459358" cy="274002"/>
          </a:xfrm>
        </p:grpSpPr>
        <p:sp>
          <p:nvSpPr>
            <p:cNvPr name="Freeform 12" id="12"/>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13" id="13"/>
            <p:cNvSpPr txBox="true"/>
            <p:nvPr/>
          </p:nvSpPr>
          <p:spPr>
            <a:xfrm>
              <a:off x="0" y="-76200"/>
              <a:ext cx="1459358" cy="350202"/>
            </a:xfrm>
            <a:prstGeom prst="rect">
              <a:avLst/>
            </a:prstGeom>
          </p:spPr>
          <p:txBody>
            <a:bodyPr anchor="ctr" rtlCol="false" tIns="50800" lIns="50800" bIns="50800" rIns="50800"/>
            <a:lstStyle/>
            <a:p>
              <a:pPr algn="ctr">
                <a:lnSpc>
                  <a:spcPts val="5599"/>
                </a:lnSpc>
              </a:pPr>
              <a:r>
                <a:rPr lang="en-US" b="true" sz="3999" strike="noStrike" u="none">
                  <a:solidFill>
                    <a:srgbClr val="414B3B"/>
                  </a:solidFill>
                  <a:latin typeface="Monterchi Sans Bold"/>
                  <a:ea typeface="Monterchi Sans Bold"/>
                  <a:cs typeface="Monterchi Sans Bold"/>
                  <a:sym typeface="Monterchi Sans Bold"/>
                </a:rPr>
                <a:t>Planning</a:t>
              </a:r>
            </a:p>
          </p:txBody>
        </p:sp>
      </p:grpSp>
      <p:sp>
        <p:nvSpPr>
          <p:cNvPr name="TextBox 14" id="14"/>
          <p:cNvSpPr txBox="true"/>
          <p:nvPr/>
        </p:nvSpPr>
        <p:spPr>
          <a:xfrm rot="0">
            <a:off x="1028700" y="1661554"/>
            <a:ext cx="7273782" cy="1450976"/>
          </a:xfrm>
          <a:prstGeom prst="rect">
            <a:avLst/>
          </a:prstGeom>
        </p:spPr>
        <p:txBody>
          <a:bodyPr anchor="t" rtlCol="false" tIns="0" lIns="0" bIns="0" rIns="0">
            <a:spAutoFit/>
          </a:bodyPr>
          <a:lstStyle/>
          <a:p>
            <a:pPr algn="l">
              <a:lnSpc>
                <a:spcPts val="11899"/>
              </a:lnSpc>
            </a:pPr>
            <a:r>
              <a:rPr lang="en-US" sz="8499">
                <a:solidFill>
                  <a:srgbClr val="414B3B"/>
                </a:solidFill>
                <a:latin typeface="Anton"/>
                <a:ea typeface="Anton"/>
                <a:cs typeface="Anton"/>
                <a:sym typeface="Anton"/>
              </a:rPr>
              <a:t>METHODOLOGY</a:t>
            </a:r>
          </a:p>
        </p:txBody>
      </p:sp>
      <p:sp>
        <p:nvSpPr>
          <p:cNvPr name="TextBox 15" id="15"/>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EBEB"/>
                </a:solidFill>
                <a:latin typeface="Monterchi Sans"/>
                <a:ea typeface="Monterchi Sans"/>
                <a:cs typeface="Monterchi Sans"/>
                <a:sym typeface="Monterchi Sans"/>
              </a:rPr>
              <a:t>Page</a:t>
            </a:r>
          </a:p>
        </p:txBody>
      </p:sp>
      <p:sp>
        <p:nvSpPr>
          <p:cNvPr name="TextBox 16" id="16"/>
          <p:cNvSpPr txBox="true"/>
          <p:nvPr/>
        </p:nvSpPr>
        <p:spPr>
          <a:xfrm rot="0">
            <a:off x="16471512" y="720408"/>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5D5340"/>
                </a:solidFill>
                <a:latin typeface="Monterchi Sans Bold"/>
                <a:ea typeface="Monterchi Sans Bold"/>
                <a:cs typeface="Monterchi Sans Bold"/>
                <a:sym typeface="Monterchi Sans Bold"/>
              </a:rPr>
              <a:t>12</a:t>
            </a:r>
          </a:p>
        </p:txBody>
      </p:sp>
      <p:sp>
        <p:nvSpPr>
          <p:cNvPr name="TextBox 17" id="17"/>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grpSp>
        <p:nvGrpSpPr>
          <p:cNvPr name="Group 18" id="18"/>
          <p:cNvGrpSpPr/>
          <p:nvPr/>
        </p:nvGrpSpPr>
        <p:grpSpPr>
          <a:xfrm rot="0">
            <a:off x="1028700" y="4838680"/>
            <a:ext cx="5541000" cy="1040350"/>
            <a:chOff x="0" y="0"/>
            <a:chExt cx="1459358" cy="274002"/>
          </a:xfrm>
        </p:grpSpPr>
        <p:sp>
          <p:nvSpPr>
            <p:cNvPr name="Freeform 19" id="19"/>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w="114300" cap="sq">
              <a:solidFill>
                <a:srgbClr val="2B3425"/>
              </a:solidFill>
              <a:prstDash val="solid"/>
              <a:miter/>
            </a:ln>
          </p:spPr>
        </p:sp>
        <p:sp>
          <p:nvSpPr>
            <p:cNvPr name="TextBox 20" id="20"/>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Designing</a:t>
              </a:r>
            </a:p>
          </p:txBody>
        </p:sp>
      </p:grpSp>
      <p:grpSp>
        <p:nvGrpSpPr>
          <p:cNvPr name="Group 21" id="21"/>
          <p:cNvGrpSpPr/>
          <p:nvPr/>
        </p:nvGrpSpPr>
        <p:grpSpPr>
          <a:xfrm rot="0">
            <a:off x="1028700" y="6528315"/>
            <a:ext cx="5541000" cy="1040350"/>
            <a:chOff x="0" y="0"/>
            <a:chExt cx="1459358" cy="274002"/>
          </a:xfrm>
        </p:grpSpPr>
        <p:sp>
          <p:nvSpPr>
            <p:cNvPr name="Freeform 22" id="22"/>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23" id="23"/>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Development</a:t>
              </a:r>
            </a:p>
          </p:txBody>
        </p:sp>
      </p:grpSp>
      <p:grpSp>
        <p:nvGrpSpPr>
          <p:cNvPr name="Group 24" id="24"/>
          <p:cNvGrpSpPr/>
          <p:nvPr/>
        </p:nvGrpSpPr>
        <p:grpSpPr>
          <a:xfrm rot="0">
            <a:off x="1028700" y="8102065"/>
            <a:ext cx="5541000" cy="1040350"/>
            <a:chOff x="0" y="0"/>
            <a:chExt cx="1459358" cy="274002"/>
          </a:xfrm>
        </p:grpSpPr>
        <p:sp>
          <p:nvSpPr>
            <p:cNvPr name="Freeform 25" id="25"/>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26" id="26"/>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Testing</a:t>
              </a:r>
            </a:p>
          </p:txBody>
        </p:sp>
      </p:grpSp>
      <p:sp>
        <p:nvSpPr>
          <p:cNvPr name="TextBox 27" id="27"/>
          <p:cNvSpPr txBox="true"/>
          <p:nvPr/>
        </p:nvSpPr>
        <p:spPr>
          <a:xfrm rot="0">
            <a:off x="6569700" y="3179205"/>
            <a:ext cx="11420125" cy="5048886"/>
          </a:xfrm>
          <a:prstGeom prst="rect">
            <a:avLst/>
          </a:prstGeom>
        </p:spPr>
        <p:txBody>
          <a:bodyPr anchor="t" rtlCol="false" tIns="0" lIns="0" bIns="0" rIns="0">
            <a:spAutoFit/>
          </a:bodyPr>
          <a:lstStyle/>
          <a:p>
            <a:pPr algn="ctr">
              <a:lnSpc>
                <a:spcPts val="5739"/>
              </a:lnSpc>
            </a:pPr>
            <a:r>
              <a:rPr lang="en-US" sz="4099" b="true">
                <a:solidFill>
                  <a:srgbClr val="5D5340"/>
                </a:solidFill>
                <a:latin typeface="Monterchi Sans Bold"/>
                <a:ea typeface="Monterchi Sans Bold"/>
                <a:cs typeface="Monterchi Sans Bold"/>
                <a:sym typeface="Monterchi Sans Bold"/>
              </a:rPr>
              <a:t>WEEK 2</a:t>
            </a:r>
          </a:p>
          <a:p>
            <a:pPr algn="ctr">
              <a:lnSpc>
                <a:spcPts val="5739"/>
              </a:lnSpc>
            </a:pPr>
          </a:p>
          <a:p>
            <a:pPr algn="l" marL="885186" indent="-442593" lvl="1">
              <a:lnSpc>
                <a:spcPts val="5739"/>
              </a:lnSpc>
              <a:spcBef>
                <a:spcPct val="0"/>
              </a:spcBef>
              <a:buFont typeface="Arial"/>
              <a:buChar char="•"/>
            </a:pPr>
            <a:r>
              <a:rPr lang="en-US" b="true" sz="4099">
                <a:solidFill>
                  <a:srgbClr val="5D5340"/>
                </a:solidFill>
                <a:latin typeface="Monterchi Sans Bold"/>
                <a:ea typeface="Monterchi Sans Bold"/>
                <a:cs typeface="Monterchi Sans Bold"/>
                <a:sym typeface="Monterchi Sans Bold"/>
              </a:rPr>
              <a:t>Mad</a:t>
            </a:r>
            <a:r>
              <a:rPr lang="en-US" b="true" sz="4099" strike="noStrike" u="none">
                <a:solidFill>
                  <a:srgbClr val="5D5340"/>
                </a:solidFill>
                <a:latin typeface="Monterchi Sans Bold"/>
                <a:ea typeface="Monterchi Sans Bold"/>
                <a:cs typeface="Monterchi Sans Bold"/>
                <a:sym typeface="Monterchi Sans Bold"/>
              </a:rPr>
              <a:t>e ro</a:t>
            </a:r>
            <a:r>
              <a:rPr lang="en-US" b="true" sz="4099" strike="noStrike" u="none">
                <a:solidFill>
                  <a:srgbClr val="5D5340"/>
                </a:solidFill>
                <a:latin typeface="Monterchi Sans Bold"/>
                <a:ea typeface="Monterchi Sans Bold"/>
                <a:cs typeface="Monterchi Sans Bold"/>
                <a:sym typeface="Monterchi Sans Bold"/>
              </a:rPr>
              <a:t>ugh</a:t>
            </a:r>
            <a:r>
              <a:rPr lang="en-US" b="true" sz="4099" strike="noStrike" u="none">
                <a:solidFill>
                  <a:srgbClr val="5D5340"/>
                </a:solidFill>
                <a:latin typeface="Monterchi Sans Bold"/>
                <a:ea typeface="Monterchi Sans Bold"/>
                <a:cs typeface="Monterchi Sans Bold"/>
                <a:sym typeface="Monterchi Sans Bold"/>
              </a:rPr>
              <a:t> designs for the app screens for </a:t>
            </a:r>
            <a:r>
              <a:rPr lang="en-US" b="true" sz="4099" strike="noStrike" u="none">
                <a:solidFill>
                  <a:srgbClr val="5D5340"/>
                </a:solidFill>
                <a:latin typeface="Monterchi Sans Bold"/>
                <a:ea typeface="Monterchi Sans Bold"/>
                <a:cs typeface="Monterchi Sans Bold"/>
                <a:sym typeface="Monterchi Sans Bold"/>
              </a:rPr>
              <a:t>bot</a:t>
            </a:r>
            <a:r>
              <a:rPr lang="en-US" b="true" sz="4099" strike="noStrike" u="none">
                <a:solidFill>
                  <a:srgbClr val="5D5340"/>
                </a:solidFill>
                <a:latin typeface="Monterchi Sans Bold"/>
                <a:ea typeface="Monterchi Sans Bold"/>
                <a:cs typeface="Monterchi Sans Bold"/>
                <a:sym typeface="Monterchi Sans Bold"/>
              </a:rPr>
              <a:t>h passengers and pedestrains</a:t>
            </a:r>
            <a:r>
              <a:rPr lang="en-US" b="true" sz="4099" strike="noStrike" u="none">
                <a:solidFill>
                  <a:srgbClr val="5D5340"/>
                </a:solidFill>
                <a:latin typeface="Monterchi Sans Bold"/>
                <a:ea typeface="Monterchi Sans Bold"/>
                <a:cs typeface="Monterchi Sans Bold"/>
                <a:sym typeface="Monterchi Sans Bold"/>
              </a:rPr>
              <a:t>.</a:t>
            </a: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Pi</a:t>
            </a:r>
            <a:r>
              <a:rPr lang="en-US" b="true" sz="4099" strike="noStrike" u="none">
                <a:solidFill>
                  <a:srgbClr val="5D5340"/>
                </a:solidFill>
                <a:latin typeface="Monterchi Sans Bold"/>
                <a:ea typeface="Monterchi Sans Bold"/>
                <a:cs typeface="Monterchi Sans Bold"/>
                <a:sym typeface="Monterchi Sans Bold"/>
              </a:rPr>
              <a:t>c</a:t>
            </a:r>
            <a:r>
              <a:rPr lang="en-US" b="true" sz="4099" strike="noStrike" u="none">
                <a:solidFill>
                  <a:srgbClr val="5D5340"/>
                </a:solidFill>
                <a:latin typeface="Monterchi Sans Bold"/>
                <a:ea typeface="Monterchi Sans Bold"/>
                <a:cs typeface="Monterchi Sans Bold"/>
                <a:sym typeface="Monterchi Sans Bold"/>
              </a:rPr>
              <a:t>k</a:t>
            </a:r>
            <a:r>
              <a:rPr lang="en-US" b="true" sz="4099" strike="noStrike" u="none">
                <a:solidFill>
                  <a:srgbClr val="5D5340"/>
                </a:solidFill>
                <a:latin typeface="Monterchi Sans Bold"/>
                <a:ea typeface="Monterchi Sans Bold"/>
                <a:cs typeface="Monterchi Sans Bold"/>
                <a:sym typeface="Monterchi Sans Bold"/>
              </a:rPr>
              <a:t>ed the most important features to include.</a:t>
            </a: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Cr</a:t>
            </a:r>
            <a:r>
              <a:rPr lang="en-US" b="true" sz="4099" strike="noStrike" u="none">
                <a:solidFill>
                  <a:srgbClr val="5D5340"/>
                </a:solidFill>
                <a:latin typeface="Monterchi Sans Bold"/>
                <a:ea typeface="Monterchi Sans Bold"/>
                <a:cs typeface="Monterchi Sans Bold"/>
                <a:sym typeface="Monterchi Sans Bold"/>
              </a:rPr>
              <a:t>eated a simple plan show</a:t>
            </a:r>
            <a:r>
              <a:rPr lang="en-US" b="true" sz="4099" strike="noStrike" u="none">
                <a:solidFill>
                  <a:srgbClr val="5D5340"/>
                </a:solidFill>
                <a:latin typeface="Monterchi Sans Bold"/>
                <a:ea typeface="Monterchi Sans Bold"/>
                <a:cs typeface="Monterchi Sans Bold"/>
                <a:sym typeface="Monterchi Sans Bold"/>
              </a:rPr>
              <a:t>ing </a:t>
            </a:r>
            <a:r>
              <a:rPr lang="en-US" b="true" sz="4099" strike="noStrike" u="none">
                <a:solidFill>
                  <a:srgbClr val="5D5340"/>
                </a:solidFill>
                <a:latin typeface="Monterchi Sans Bold"/>
                <a:ea typeface="Monterchi Sans Bold"/>
                <a:cs typeface="Monterchi Sans Bold"/>
                <a:sym typeface="Monterchi Sans Bold"/>
              </a:rPr>
              <a:t>how the app connects with the campus AV system.</a:t>
            </a:r>
          </a:p>
        </p:txBody>
      </p:sp>
    </p:spTree>
  </p:cSld>
  <p:clrMapOvr>
    <a:masterClrMapping/>
  </p:clrMapOvr>
  <p:transition spd="fast">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3264930"/>
            <a:ext cx="5541000" cy="1040350"/>
            <a:chOff x="0" y="0"/>
            <a:chExt cx="1459358" cy="274002"/>
          </a:xfrm>
        </p:grpSpPr>
        <p:sp>
          <p:nvSpPr>
            <p:cNvPr name="Freeform 12" id="12"/>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13" id="13"/>
            <p:cNvSpPr txBox="true"/>
            <p:nvPr/>
          </p:nvSpPr>
          <p:spPr>
            <a:xfrm>
              <a:off x="0" y="-76200"/>
              <a:ext cx="1459358" cy="350202"/>
            </a:xfrm>
            <a:prstGeom prst="rect">
              <a:avLst/>
            </a:prstGeom>
          </p:spPr>
          <p:txBody>
            <a:bodyPr anchor="ctr" rtlCol="false" tIns="50800" lIns="50800" bIns="50800" rIns="50800"/>
            <a:lstStyle/>
            <a:p>
              <a:pPr algn="ctr">
                <a:lnSpc>
                  <a:spcPts val="5599"/>
                </a:lnSpc>
              </a:pPr>
              <a:r>
                <a:rPr lang="en-US" b="true" sz="3999" strike="noStrike" u="none">
                  <a:solidFill>
                    <a:srgbClr val="414B3B"/>
                  </a:solidFill>
                  <a:latin typeface="Monterchi Sans Bold"/>
                  <a:ea typeface="Monterchi Sans Bold"/>
                  <a:cs typeface="Monterchi Sans Bold"/>
                  <a:sym typeface="Monterchi Sans Bold"/>
                </a:rPr>
                <a:t>Planning</a:t>
              </a:r>
            </a:p>
          </p:txBody>
        </p:sp>
      </p:grpSp>
      <p:grpSp>
        <p:nvGrpSpPr>
          <p:cNvPr name="Group 14" id="14"/>
          <p:cNvGrpSpPr/>
          <p:nvPr/>
        </p:nvGrpSpPr>
        <p:grpSpPr>
          <a:xfrm rot="0">
            <a:off x="1028700" y="4838680"/>
            <a:ext cx="5541000" cy="1040350"/>
            <a:chOff x="0" y="0"/>
            <a:chExt cx="1459358" cy="274002"/>
          </a:xfrm>
        </p:grpSpPr>
        <p:sp>
          <p:nvSpPr>
            <p:cNvPr name="Freeform 15" id="15"/>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w="114300" cap="sq">
              <a:solidFill>
                <a:srgbClr val="2B3425"/>
              </a:solidFill>
              <a:prstDash val="solid"/>
              <a:miter/>
            </a:ln>
          </p:spPr>
        </p:sp>
        <p:sp>
          <p:nvSpPr>
            <p:cNvPr name="TextBox 16" id="16"/>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Designing</a:t>
              </a:r>
            </a:p>
          </p:txBody>
        </p:sp>
      </p:grpSp>
      <p:grpSp>
        <p:nvGrpSpPr>
          <p:cNvPr name="Group 17" id="17"/>
          <p:cNvGrpSpPr/>
          <p:nvPr/>
        </p:nvGrpSpPr>
        <p:grpSpPr>
          <a:xfrm rot="0">
            <a:off x="1028700" y="6528315"/>
            <a:ext cx="5541000" cy="1040350"/>
            <a:chOff x="0" y="0"/>
            <a:chExt cx="1459358" cy="274002"/>
          </a:xfrm>
        </p:grpSpPr>
        <p:sp>
          <p:nvSpPr>
            <p:cNvPr name="Freeform 18" id="18"/>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19" id="19"/>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Development</a:t>
              </a:r>
            </a:p>
          </p:txBody>
        </p:sp>
      </p:grpSp>
      <p:grpSp>
        <p:nvGrpSpPr>
          <p:cNvPr name="Group 20" id="20"/>
          <p:cNvGrpSpPr/>
          <p:nvPr/>
        </p:nvGrpSpPr>
        <p:grpSpPr>
          <a:xfrm rot="0">
            <a:off x="1028700" y="8102065"/>
            <a:ext cx="5541000" cy="1040350"/>
            <a:chOff x="0" y="0"/>
            <a:chExt cx="1459358" cy="274002"/>
          </a:xfrm>
        </p:grpSpPr>
        <p:sp>
          <p:nvSpPr>
            <p:cNvPr name="Freeform 21" id="21"/>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22" id="22"/>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Testing</a:t>
              </a:r>
            </a:p>
          </p:txBody>
        </p:sp>
      </p:grpSp>
      <p:sp>
        <p:nvSpPr>
          <p:cNvPr name="Freeform 23" id="23"/>
          <p:cNvSpPr/>
          <p:nvPr/>
        </p:nvSpPr>
        <p:spPr>
          <a:xfrm flipH="false" flipV="false" rot="0">
            <a:off x="6787989" y="3264930"/>
            <a:ext cx="11298113" cy="5656127"/>
          </a:xfrm>
          <a:custGeom>
            <a:avLst/>
            <a:gdLst/>
            <a:ahLst/>
            <a:cxnLst/>
            <a:rect r="r" b="b" t="t" l="l"/>
            <a:pathLst>
              <a:path h="5656127" w="11298113">
                <a:moveTo>
                  <a:pt x="0" y="0"/>
                </a:moveTo>
                <a:lnTo>
                  <a:pt x="11298113" y="0"/>
                </a:lnTo>
                <a:lnTo>
                  <a:pt x="11298113" y="5656126"/>
                </a:lnTo>
                <a:lnTo>
                  <a:pt x="0" y="5656126"/>
                </a:lnTo>
                <a:lnTo>
                  <a:pt x="0" y="0"/>
                </a:lnTo>
                <a:close/>
              </a:path>
            </a:pathLst>
          </a:custGeom>
          <a:blipFill>
            <a:blip r:embed="rId2"/>
            <a:stretch>
              <a:fillRect l="0" t="0" r="0" b="0"/>
            </a:stretch>
          </a:blipFill>
        </p:spPr>
      </p:sp>
      <p:sp>
        <p:nvSpPr>
          <p:cNvPr name="TextBox 24" id="24"/>
          <p:cNvSpPr txBox="true"/>
          <p:nvPr/>
        </p:nvSpPr>
        <p:spPr>
          <a:xfrm rot="0">
            <a:off x="1028700" y="1661554"/>
            <a:ext cx="7273782" cy="1450976"/>
          </a:xfrm>
          <a:prstGeom prst="rect">
            <a:avLst/>
          </a:prstGeom>
        </p:spPr>
        <p:txBody>
          <a:bodyPr anchor="t" rtlCol="false" tIns="0" lIns="0" bIns="0" rIns="0">
            <a:spAutoFit/>
          </a:bodyPr>
          <a:lstStyle/>
          <a:p>
            <a:pPr algn="l">
              <a:lnSpc>
                <a:spcPts val="11899"/>
              </a:lnSpc>
            </a:pPr>
            <a:r>
              <a:rPr lang="en-US" sz="8499">
                <a:solidFill>
                  <a:srgbClr val="414B3B"/>
                </a:solidFill>
                <a:latin typeface="Anton"/>
                <a:ea typeface="Anton"/>
                <a:cs typeface="Anton"/>
                <a:sym typeface="Anton"/>
              </a:rPr>
              <a:t>METHODOLOGY</a:t>
            </a:r>
          </a:p>
        </p:txBody>
      </p:sp>
      <p:sp>
        <p:nvSpPr>
          <p:cNvPr name="TextBox 25" id="25"/>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EBEB"/>
                </a:solidFill>
                <a:latin typeface="Monterchi Sans"/>
                <a:ea typeface="Monterchi Sans"/>
                <a:cs typeface="Monterchi Sans"/>
                <a:sym typeface="Monterchi Sans"/>
              </a:rPr>
              <a:t>Page</a:t>
            </a:r>
          </a:p>
        </p:txBody>
      </p:sp>
      <p:sp>
        <p:nvSpPr>
          <p:cNvPr name="TextBox 26" id="26"/>
          <p:cNvSpPr txBox="true"/>
          <p:nvPr/>
        </p:nvSpPr>
        <p:spPr>
          <a:xfrm rot="0">
            <a:off x="16471512" y="720408"/>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5D5340"/>
                </a:solidFill>
                <a:latin typeface="Monterchi Sans Bold"/>
                <a:ea typeface="Monterchi Sans Bold"/>
                <a:cs typeface="Monterchi Sans Bold"/>
                <a:sym typeface="Monterchi Sans Bold"/>
              </a:rPr>
              <a:t>13</a:t>
            </a:r>
          </a:p>
        </p:txBody>
      </p:sp>
      <p:sp>
        <p:nvSpPr>
          <p:cNvPr name="TextBox 27" id="27"/>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Tree>
  </p:cSld>
  <p:clrMapOvr>
    <a:masterClrMapping/>
  </p:clrMapOvr>
  <p:transition spd="fast">
    <p:push dir="l"/>
  </p:transition>
</p:sld>
</file>

<file path=ppt/slides/slide14.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3264930"/>
            <a:ext cx="5541000" cy="1040350"/>
            <a:chOff x="0" y="0"/>
            <a:chExt cx="1459358" cy="274002"/>
          </a:xfrm>
        </p:grpSpPr>
        <p:sp>
          <p:nvSpPr>
            <p:cNvPr name="Freeform 12" id="12"/>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13" id="13"/>
            <p:cNvSpPr txBox="true"/>
            <p:nvPr/>
          </p:nvSpPr>
          <p:spPr>
            <a:xfrm>
              <a:off x="0" y="-76200"/>
              <a:ext cx="1459358" cy="350202"/>
            </a:xfrm>
            <a:prstGeom prst="rect">
              <a:avLst/>
            </a:prstGeom>
          </p:spPr>
          <p:txBody>
            <a:bodyPr anchor="ctr" rtlCol="false" tIns="50800" lIns="50800" bIns="50800" rIns="50800"/>
            <a:lstStyle/>
            <a:p>
              <a:pPr algn="ctr">
                <a:lnSpc>
                  <a:spcPts val="5599"/>
                </a:lnSpc>
              </a:pPr>
              <a:r>
                <a:rPr lang="en-US" b="true" sz="3999" strike="noStrike" u="none">
                  <a:solidFill>
                    <a:srgbClr val="414B3B"/>
                  </a:solidFill>
                  <a:latin typeface="Monterchi Sans Bold"/>
                  <a:ea typeface="Monterchi Sans Bold"/>
                  <a:cs typeface="Monterchi Sans Bold"/>
                  <a:sym typeface="Monterchi Sans Bold"/>
                </a:rPr>
                <a:t>Planning</a:t>
              </a:r>
            </a:p>
          </p:txBody>
        </p:sp>
      </p:grpSp>
      <p:sp>
        <p:nvSpPr>
          <p:cNvPr name="TextBox 14" id="14"/>
          <p:cNvSpPr txBox="true"/>
          <p:nvPr/>
        </p:nvSpPr>
        <p:spPr>
          <a:xfrm rot="0">
            <a:off x="1028700" y="1661554"/>
            <a:ext cx="7273782" cy="1450976"/>
          </a:xfrm>
          <a:prstGeom prst="rect">
            <a:avLst/>
          </a:prstGeom>
        </p:spPr>
        <p:txBody>
          <a:bodyPr anchor="t" rtlCol="false" tIns="0" lIns="0" bIns="0" rIns="0">
            <a:spAutoFit/>
          </a:bodyPr>
          <a:lstStyle/>
          <a:p>
            <a:pPr algn="l">
              <a:lnSpc>
                <a:spcPts val="11899"/>
              </a:lnSpc>
            </a:pPr>
            <a:r>
              <a:rPr lang="en-US" sz="8499">
                <a:solidFill>
                  <a:srgbClr val="414B3B"/>
                </a:solidFill>
                <a:latin typeface="Anton"/>
                <a:ea typeface="Anton"/>
                <a:cs typeface="Anton"/>
                <a:sym typeface="Anton"/>
              </a:rPr>
              <a:t>METHODOLOGY</a:t>
            </a:r>
          </a:p>
        </p:txBody>
      </p:sp>
      <p:sp>
        <p:nvSpPr>
          <p:cNvPr name="TextBox 15" id="15"/>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EBEB"/>
                </a:solidFill>
                <a:latin typeface="Monterchi Sans"/>
                <a:ea typeface="Monterchi Sans"/>
                <a:cs typeface="Monterchi Sans"/>
                <a:sym typeface="Monterchi Sans"/>
              </a:rPr>
              <a:t>Page</a:t>
            </a:r>
          </a:p>
        </p:txBody>
      </p:sp>
      <p:sp>
        <p:nvSpPr>
          <p:cNvPr name="TextBox 16" id="16"/>
          <p:cNvSpPr txBox="true"/>
          <p:nvPr/>
        </p:nvSpPr>
        <p:spPr>
          <a:xfrm rot="0">
            <a:off x="16471512" y="720408"/>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5D5340"/>
                </a:solidFill>
                <a:latin typeface="Monterchi Sans Bold"/>
                <a:ea typeface="Monterchi Sans Bold"/>
                <a:cs typeface="Monterchi Sans Bold"/>
                <a:sym typeface="Monterchi Sans Bold"/>
              </a:rPr>
              <a:t>14</a:t>
            </a:r>
          </a:p>
        </p:txBody>
      </p:sp>
      <p:sp>
        <p:nvSpPr>
          <p:cNvPr name="TextBox 17" id="17"/>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grpSp>
        <p:nvGrpSpPr>
          <p:cNvPr name="Group 18" id="18"/>
          <p:cNvGrpSpPr/>
          <p:nvPr/>
        </p:nvGrpSpPr>
        <p:grpSpPr>
          <a:xfrm rot="0">
            <a:off x="1028700" y="4838680"/>
            <a:ext cx="5541000" cy="1040350"/>
            <a:chOff x="0" y="0"/>
            <a:chExt cx="1459358" cy="274002"/>
          </a:xfrm>
        </p:grpSpPr>
        <p:sp>
          <p:nvSpPr>
            <p:cNvPr name="Freeform 19" id="19"/>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20" id="20"/>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Designing</a:t>
              </a:r>
            </a:p>
          </p:txBody>
        </p:sp>
      </p:grpSp>
      <p:grpSp>
        <p:nvGrpSpPr>
          <p:cNvPr name="Group 21" id="21"/>
          <p:cNvGrpSpPr/>
          <p:nvPr/>
        </p:nvGrpSpPr>
        <p:grpSpPr>
          <a:xfrm rot="0">
            <a:off x="1028700" y="6528315"/>
            <a:ext cx="5541000" cy="1040350"/>
            <a:chOff x="0" y="0"/>
            <a:chExt cx="1459358" cy="274002"/>
          </a:xfrm>
        </p:grpSpPr>
        <p:sp>
          <p:nvSpPr>
            <p:cNvPr name="Freeform 22" id="22"/>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w="114300" cap="sq">
              <a:solidFill>
                <a:srgbClr val="2B3425"/>
              </a:solidFill>
              <a:prstDash val="solid"/>
              <a:miter/>
            </a:ln>
          </p:spPr>
        </p:sp>
        <p:sp>
          <p:nvSpPr>
            <p:cNvPr name="TextBox 23" id="23"/>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Development</a:t>
              </a:r>
            </a:p>
          </p:txBody>
        </p:sp>
      </p:grpSp>
      <p:grpSp>
        <p:nvGrpSpPr>
          <p:cNvPr name="Group 24" id="24"/>
          <p:cNvGrpSpPr/>
          <p:nvPr/>
        </p:nvGrpSpPr>
        <p:grpSpPr>
          <a:xfrm rot="0">
            <a:off x="1028700" y="8102065"/>
            <a:ext cx="5541000" cy="1040350"/>
            <a:chOff x="0" y="0"/>
            <a:chExt cx="1459358" cy="274002"/>
          </a:xfrm>
        </p:grpSpPr>
        <p:sp>
          <p:nvSpPr>
            <p:cNvPr name="Freeform 25" id="25"/>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26" id="26"/>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Testing</a:t>
              </a:r>
            </a:p>
          </p:txBody>
        </p:sp>
      </p:grpSp>
      <p:sp>
        <p:nvSpPr>
          <p:cNvPr name="TextBox 27" id="27"/>
          <p:cNvSpPr txBox="true"/>
          <p:nvPr/>
        </p:nvSpPr>
        <p:spPr>
          <a:xfrm rot="0">
            <a:off x="6569700" y="3179205"/>
            <a:ext cx="11420125" cy="7220586"/>
          </a:xfrm>
          <a:prstGeom prst="rect">
            <a:avLst/>
          </a:prstGeom>
        </p:spPr>
        <p:txBody>
          <a:bodyPr anchor="t" rtlCol="false" tIns="0" lIns="0" bIns="0" rIns="0">
            <a:spAutoFit/>
          </a:bodyPr>
          <a:lstStyle/>
          <a:p>
            <a:pPr algn="ctr">
              <a:lnSpc>
                <a:spcPts val="5739"/>
              </a:lnSpc>
            </a:pPr>
            <a:r>
              <a:rPr lang="en-US" sz="4099" b="true">
                <a:solidFill>
                  <a:srgbClr val="5D5340"/>
                </a:solidFill>
                <a:latin typeface="Monterchi Sans Bold"/>
                <a:ea typeface="Monterchi Sans Bold"/>
                <a:cs typeface="Monterchi Sans Bold"/>
                <a:sym typeface="Monterchi Sans Bold"/>
              </a:rPr>
              <a:t>WEEK 3-5</a:t>
            </a:r>
          </a:p>
          <a:p>
            <a:pPr algn="ctr">
              <a:lnSpc>
                <a:spcPts val="5739"/>
              </a:lnSpc>
            </a:pPr>
          </a:p>
          <a:p>
            <a:pPr algn="l" marL="885186" indent="-442593" lvl="1">
              <a:lnSpc>
                <a:spcPts val="5739"/>
              </a:lnSpc>
              <a:spcBef>
                <a:spcPct val="0"/>
              </a:spcBef>
              <a:buFont typeface="Arial"/>
              <a:buChar char="•"/>
            </a:pPr>
            <a:r>
              <a:rPr lang="en-US" b="true" sz="4099">
                <a:solidFill>
                  <a:srgbClr val="5D5340"/>
                </a:solidFill>
                <a:latin typeface="Monterchi Sans Bold"/>
                <a:ea typeface="Monterchi Sans Bold"/>
                <a:cs typeface="Monterchi Sans Bold"/>
                <a:sym typeface="Monterchi Sans Bold"/>
              </a:rPr>
              <a:t>Used R</a:t>
            </a:r>
            <a:r>
              <a:rPr lang="en-US" b="true" sz="4099" strike="noStrike" u="none">
                <a:solidFill>
                  <a:srgbClr val="5D5340"/>
                </a:solidFill>
                <a:latin typeface="Monterchi Sans Bold"/>
                <a:ea typeface="Monterchi Sans Bold"/>
                <a:cs typeface="Monterchi Sans Bold"/>
                <a:sym typeface="Monterchi Sans Bold"/>
              </a:rPr>
              <a:t>eact Native with Expo to build the app.</a:t>
            </a: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Built the backend with Node.js and Express.</a:t>
            </a: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Us</a:t>
            </a:r>
            <a:r>
              <a:rPr lang="en-US" b="true" sz="4099" strike="noStrike" u="none">
                <a:solidFill>
                  <a:srgbClr val="5D5340"/>
                </a:solidFill>
                <a:latin typeface="Monterchi Sans Bold"/>
                <a:ea typeface="Monterchi Sans Bold"/>
                <a:cs typeface="Monterchi Sans Bold"/>
                <a:sym typeface="Monterchi Sans Bold"/>
              </a:rPr>
              <a:t>ed MongoDB to store user and vehicle data.</a:t>
            </a: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C</a:t>
            </a:r>
            <a:r>
              <a:rPr lang="en-US" b="true" sz="4099" strike="noStrike" u="none">
                <a:solidFill>
                  <a:srgbClr val="5D5340"/>
                </a:solidFill>
                <a:latin typeface="Monterchi Sans Bold"/>
                <a:ea typeface="Monterchi Sans Bold"/>
                <a:cs typeface="Monterchi Sans Bold"/>
                <a:sym typeface="Monterchi Sans Bold"/>
              </a:rPr>
              <a:t>onn</a:t>
            </a:r>
            <a:r>
              <a:rPr lang="en-US" b="true" sz="4099" strike="noStrike" u="none">
                <a:solidFill>
                  <a:srgbClr val="5D5340"/>
                </a:solidFill>
                <a:latin typeface="Monterchi Sans Bold"/>
                <a:ea typeface="Monterchi Sans Bold"/>
                <a:cs typeface="Monterchi Sans Bold"/>
                <a:sym typeface="Monterchi Sans Bold"/>
              </a:rPr>
              <a:t>ected to ROS2 for sending and receiving </a:t>
            </a:r>
            <a:r>
              <a:rPr lang="en-US" b="true" sz="4099" strike="noStrike" u="none">
                <a:solidFill>
                  <a:srgbClr val="5D5340"/>
                </a:solidFill>
                <a:latin typeface="Monterchi Sans Bold"/>
                <a:ea typeface="Monterchi Sans Bold"/>
                <a:cs typeface="Monterchi Sans Bold"/>
                <a:sym typeface="Monterchi Sans Bold"/>
              </a:rPr>
              <a:t>data fr</a:t>
            </a:r>
            <a:r>
              <a:rPr lang="en-US" b="true" sz="4099" strike="noStrike" u="none">
                <a:solidFill>
                  <a:srgbClr val="5D5340"/>
                </a:solidFill>
                <a:latin typeface="Monterchi Sans Bold"/>
                <a:ea typeface="Monterchi Sans Bold"/>
                <a:cs typeface="Monterchi Sans Bold"/>
                <a:sym typeface="Monterchi Sans Bold"/>
              </a:rPr>
              <a:t>om the golf car:</a:t>
            </a:r>
          </a:p>
          <a:p>
            <a:pPr algn="l" marL="1770371" indent="-590124" lvl="2">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Published the car's location and speed.</a:t>
            </a:r>
          </a:p>
          <a:p>
            <a:pPr algn="l" marL="1770371" indent="-590124" lvl="2">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Listened to </a:t>
            </a:r>
            <a:r>
              <a:rPr lang="en-US" b="true" sz="4099" strike="noStrike" u="none">
                <a:solidFill>
                  <a:srgbClr val="5D5340"/>
                </a:solidFill>
                <a:latin typeface="Monterchi Sans Bold"/>
                <a:ea typeface="Monterchi Sans Bold"/>
                <a:cs typeface="Monterchi Sans Bold"/>
                <a:sym typeface="Monterchi Sans Bold"/>
              </a:rPr>
              <a:t>passenger, vehicle, and object location </a:t>
            </a:r>
          </a:p>
          <a:p>
            <a:pPr algn="l">
              <a:lnSpc>
                <a:spcPts val="5739"/>
              </a:lnSpc>
              <a:spcBef>
                <a:spcPct val="0"/>
              </a:spcBef>
            </a:pPr>
          </a:p>
        </p:txBody>
      </p:sp>
    </p:spTree>
  </p:cSld>
  <p:clrMapOvr>
    <a:masterClrMapping/>
  </p:clrMapOvr>
  <p:transition spd="fast">
    <p:push dir="l"/>
  </p:transition>
</p:sld>
</file>

<file path=ppt/slides/slide15.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3264930"/>
            <a:ext cx="5541000" cy="1040350"/>
            <a:chOff x="0" y="0"/>
            <a:chExt cx="1459358" cy="274002"/>
          </a:xfrm>
        </p:grpSpPr>
        <p:sp>
          <p:nvSpPr>
            <p:cNvPr name="Freeform 12" id="12"/>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13" id="13"/>
            <p:cNvSpPr txBox="true"/>
            <p:nvPr/>
          </p:nvSpPr>
          <p:spPr>
            <a:xfrm>
              <a:off x="0" y="-76200"/>
              <a:ext cx="1459358" cy="350202"/>
            </a:xfrm>
            <a:prstGeom prst="rect">
              <a:avLst/>
            </a:prstGeom>
          </p:spPr>
          <p:txBody>
            <a:bodyPr anchor="ctr" rtlCol="false" tIns="50800" lIns="50800" bIns="50800" rIns="50800"/>
            <a:lstStyle/>
            <a:p>
              <a:pPr algn="ctr">
                <a:lnSpc>
                  <a:spcPts val="5599"/>
                </a:lnSpc>
              </a:pPr>
              <a:r>
                <a:rPr lang="en-US" b="true" sz="3999" strike="noStrike" u="none">
                  <a:solidFill>
                    <a:srgbClr val="414B3B"/>
                  </a:solidFill>
                  <a:latin typeface="Monterchi Sans Bold"/>
                  <a:ea typeface="Monterchi Sans Bold"/>
                  <a:cs typeface="Monterchi Sans Bold"/>
                  <a:sym typeface="Monterchi Sans Bold"/>
                </a:rPr>
                <a:t>Planning</a:t>
              </a:r>
            </a:p>
          </p:txBody>
        </p:sp>
      </p:grpSp>
      <p:sp>
        <p:nvSpPr>
          <p:cNvPr name="TextBox 14" id="14"/>
          <p:cNvSpPr txBox="true"/>
          <p:nvPr/>
        </p:nvSpPr>
        <p:spPr>
          <a:xfrm rot="0">
            <a:off x="1028700" y="1661554"/>
            <a:ext cx="7273782" cy="1450976"/>
          </a:xfrm>
          <a:prstGeom prst="rect">
            <a:avLst/>
          </a:prstGeom>
        </p:spPr>
        <p:txBody>
          <a:bodyPr anchor="t" rtlCol="false" tIns="0" lIns="0" bIns="0" rIns="0">
            <a:spAutoFit/>
          </a:bodyPr>
          <a:lstStyle/>
          <a:p>
            <a:pPr algn="l">
              <a:lnSpc>
                <a:spcPts val="11899"/>
              </a:lnSpc>
            </a:pPr>
            <a:r>
              <a:rPr lang="en-US" sz="8499">
                <a:solidFill>
                  <a:srgbClr val="414B3B"/>
                </a:solidFill>
                <a:latin typeface="Anton"/>
                <a:ea typeface="Anton"/>
                <a:cs typeface="Anton"/>
                <a:sym typeface="Anton"/>
              </a:rPr>
              <a:t>METHODOLOGY</a:t>
            </a:r>
          </a:p>
        </p:txBody>
      </p:sp>
      <p:sp>
        <p:nvSpPr>
          <p:cNvPr name="TextBox 15" id="15"/>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EBEB"/>
                </a:solidFill>
                <a:latin typeface="Monterchi Sans"/>
                <a:ea typeface="Monterchi Sans"/>
                <a:cs typeface="Monterchi Sans"/>
                <a:sym typeface="Monterchi Sans"/>
              </a:rPr>
              <a:t>Page</a:t>
            </a:r>
          </a:p>
        </p:txBody>
      </p:sp>
      <p:sp>
        <p:nvSpPr>
          <p:cNvPr name="TextBox 16" id="16"/>
          <p:cNvSpPr txBox="true"/>
          <p:nvPr/>
        </p:nvSpPr>
        <p:spPr>
          <a:xfrm rot="0">
            <a:off x="16471512" y="720408"/>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5D5340"/>
                </a:solidFill>
                <a:latin typeface="Monterchi Sans Bold"/>
                <a:ea typeface="Monterchi Sans Bold"/>
                <a:cs typeface="Monterchi Sans Bold"/>
                <a:sym typeface="Monterchi Sans Bold"/>
              </a:rPr>
              <a:t>15</a:t>
            </a:r>
          </a:p>
        </p:txBody>
      </p:sp>
      <p:sp>
        <p:nvSpPr>
          <p:cNvPr name="TextBox 17" id="17"/>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grpSp>
        <p:nvGrpSpPr>
          <p:cNvPr name="Group 18" id="18"/>
          <p:cNvGrpSpPr/>
          <p:nvPr/>
        </p:nvGrpSpPr>
        <p:grpSpPr>
          <a:xfrm rot="0">
            <a:off x="1028700" y="4838680"/>
            <a:ext cx="5541000" cy="1040350"/>
            <a:chOff x="0" y="0"/>
            <a:chExt cx="1459358" cy="274002"/>
          </a:xfrm>
        </p:grpSpPr>
        <p:sp>
          <p:nvSpPr>
            <p:cNvPr name="Freeform 19" id="19"/>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20" id="20"/>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Designing</a:t>
              </a:r>
            </a:p>
          </p:txBody>
        </p:sp>
      </p:grpSp>
      <p:grpSp>
        <p:nvGrpSpPr>
          <p:cNvPr name="Group 21" id="21"/>
          <p:cNvGrpSpPr/>
          <p:nvPr/>
        </p:nvGrpSpPr>
        <p:grpSpPr>
          <a:xfrm rot="0">
            <a:off x="1028700" y="6528315"/>
            <a:ext cx="5541000" cy="1040350"/>
            <a:chOff x="0" y="0"/>
            <a:chExt cx="1459358" cy="274002"/>
          </a:xfrm>
        </p:grpSpPr>
        <p:sp>
          <p:nvSpPr>
            <p:cNvPr name="Freeform 22" id="22"/>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cap="sq">
              <a:noFill/>
              <a:prstDash val="solid"/>
              <a:miter/>
            </a:ln>
          </p:spPr>
        </p:sp>
        <p:sp>
          <p:nvSpPr>
            <p:cNvPr name="TextBox 23" id="23"/>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Development</a:t>
              </a:r>
            </a:p>
          </p:txBody>
        </p:sp>
      </p:grpSp>
      <p:grpSp>
        <p:nvGrpSpPr>
          <p:cNvPr name="Group 24" id="24"/>
          <p:cNvGrpSpPr/>
          <p:nvPr/>
        </p:nvGrpSpPr>
        <p:grpSpPr>
          <a:xfrm rot="0">
            <a:off x="1028700" y="8102065"/>
            <a:ext cx="5541000" cy="1040350"/>
            <a:chOff x="0" y="0"/>
            <a:chExt cx="1459358" cy="274002"/>
          </a:xfrm>
        </p:grpSpPr>
        <p:sp>
          <p:nvSpPr>
            <p:cNvPr name="Freeform 25" id="25"/>
            <p:cNvSpPr/>
            <p:nvPr/>
          </p:nvSpPr>
          <p:spPr>
            <a:xfrm flipH="false" flipV="false" rot="0">
              <a:off x="0" y="0"/>
              <a:ext cx="1459358" cy="274002"/>
            </a:xfrm>
            <a:custGeom>
              <a:avLst/>
              <a:gdLst/>
              <a:ahLst/>
              <a:cxnLst/>
              <a:rect r="r" b="b" t="t" l="l"/>
              <a:pathLst>
                <a:path h="274002" w="1459358">
                  <a:moveTo>
                    <a:pt x="0" y="0"/>
                  </a:moveTo>
                  <a:lnTo>
                    <a:pt x="1459358" y="0"/>
                  </a:lnTo>
                  <a:lnTo>
                    <a:pt x="1459358" y="274002"/>
                  </a:lnTo>
                  <a:lnTo>
                    <a:pt x="0" y="274002"/>
                  </a:lnTo>
                  <a:close/>
                </a:path>
              </a:pathLst>
            </a:custGeom>
            <a:solidFill>
              <a:srgbClr val="8CA87C"/>
            </a:solidFill>
            <a:ln w="114300" cap="sq">
              <a:solidFill>
                <a:srgbClr val="2B3425"/>
              </a:solidFill>
              <a:prstDash val="solid"/>
              <a:miter/>
            </a:ln>
          </p:spPr>
        </p:sp>
        <p:sp>
          <p:nvSpPr>
            <p:cNvPr name="TextBox 26" id="26"/>
            <p:cNvSpPr txBox="true"/>
            <p:nvPr/>
          </p:nvSpPr>
          <p:spPr>
            <a:xfrm>
              <a:off x="0" y="-76200"/>
              <a:ext cx="1459358" cy="350202"/>
            </a:xfrm>
            <a:prstGeom prst="rect">
              <a:avLst/>
            </a:prstGeom>
          </p:spPr>
          <p:txBody>
            <a:bodyPr anchor="ctr" rtlCol="false" tIns="50800" lIns="50800" bIns="50800" rIns="50800"/>
            <a:lstStyle/>
            <a:p>
              <a:pPr algn="ctr" marL="0" indent="0" lvl="1">
                <a:lnSpc>
                  <a:spcPts val="5599"/>
                </a:lnSpc>
                <a:spcBef>
                  <a:spcPct val="0"/>
                </a:spcBef>
              </a:pPr>
              <a:r>
                <a:rPr lang="en-US" b="true" sz="3999" strike="noStrike" u="none">
                  <a:solidFill>
                    <a:srgbClr val="414B3B"/>
                  </a:solidFill>
                  <a:latin typeface="Monterchi Sans Bold"/>
                  <a:ea typeface="Monterchi Sans Bold"/>
                  <a:cs typeface="Monterchi Sans Bold"/>
                  <a:sym typeface="Monterchi Sans Bold"/>
                </a:rPr>
                <a:t>Testing</a:t>
              </a:r>
            </a:p>
          </p:txBody>
        </p:sp>
      </p:grpSp>
      <p:sp>
        <p:nvSpPr>
          <p:cNvPr name="TextBox 27" id="27"/>
          <p:cNvSpPr txBox="true"/>
          <p:nvPr/>
        </p:nvSpPr>
        <p:spPr>
          <a:xfrm rot="0">
            <a:off x="6569700" y="3179205"/>
            <a:ext cx="11420125" cy="7220586"/>
          </a:xfrm>
          <a:prstGeom prst="rect">
            <a:avLst/>
          </a:prstGeom>
        </p:spPr>
        <p:txBody>
          <a:bodyPr anchor="t" rtlCol="false" tIns="0" lIns="0" bIns="0" rIns="0">
            <a:spAutoFit/>
          </a:bodyPr>
          <a:lstStyle/>
          <a:p>
            <a:pPr algn="ctr">
              <a:lnSpc>
                <a:spcPts val="5739"/>
              </a:lnSpc>
            </a:pPr>
            <a:r>
              <a:rPr lang="en-US" sz="4099" b="true">
                <a:solidFill>
                  <a:srgbClr val="5D5340"/>
                </a:solidFill>
                <a:latin typeface="Monterchi Sans Bold"/>
                <a:ea typeface="Monterchi Sans Bold"/>
                <a:cs typeface="Monterchi Sans Bold"/>
                <a:sym typeface="Monterchi Sans Bold"/>
              </a:rPr>
              <a:t>WEEK 6</a:t>
            </a:r>
          </a:p>
          <a:p>
            <a:pPr algn="ctr">
              <a:lnSpc>
                <a:spcPts val="5739"/>
              </a:lnSpc>
            </a:pPr>
          </a:p>
          <a:p>
            <a:pPr algn="l" marL="885186" indent="-442593" lvl="1">
              <a:lnSpc>
                <a:spcPts val="5739"/>
              </a:lnSpc>
              <a:spcBef>
                <a:spcPct val="0"/>
              </a:spcBef>
              <a:buFont typeface="Arial"/>
              <a:buChar char="•"/>
            </a:pPr>
            <a:r>
              <a:rPr lang="en-US" b="true" sz="4099">
                <a:solidFill>
                  <a:srgbClr val="5D5340"/>
                </a:solidFill>
                <a:latin typeface="Monterchi Sans Bold"/>
                <a:ea typeface="Monterchi Sans Bold"/>
                <a:cs typeface="Monterchi Sans Bold"/>
                <a:sym typeface="Monterchi Sans Bold"/>
              </a:rPr>
              <a:t>Tested </a:t>
            </a:r>
            <a:r>
              <a:rPr lang="en-US" b="true" sz="4099" strike="noStrike" u="none">
                <a:solidFill>
                  <a:srgbClr val="5D5340"/>
                </a:solidFill>
                <a:latin typeface="Monterchi Sans Bold"/>
                <a:ea typeface="Monterchi Sans Bold"/>
                <a:cs typeface="Monterchi Sans Bold"/>
                <a:sym typeface="Monterchi Sans Bold"/>
              </a:rPr>
              <a:t>the app using Expo Go.</a:t>
            </a: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Checked how accurate the location and speed tracking is.</a:t>
            </a: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T</a:t>
            </a:r>
            <a:r>
              <a:rPr lang="en-US" b="true" sz="4099" strike="noStrike" u="none">
                <a:solidFill>
                  <a:srgbClr val="5D5340"/>
                </a:solidFill>
                <a:latin typeface="Monterchi Sans Bold"/>
                <a:ea typeface="Monterchi Sans Bold"/>
                <a:cs typeface="Monterchi Sans Bold"/>
                <a:sym typeface="Monterchi Sans Bold"/>
              </a:rPr>
              <a:t>ested and deployed backend </a:t>
            </a: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Made sure the ROS nodes s</a:t>
            </a:r>
            <a:r>
              <a:rPr lang="en-US" b="true" sz="4099" strike="noStrike" u="none">
                <a:solidFill>
                  <a:srgbClr val="5D5340"/>
                </a:solidFill>
                <a:latin typeface="Monterchi Sans Bold"/>
                <a:ea typeface="Monterchi Sans Bold"/>
                <a:cs typeface="Monterchi Sans Bold"/>
                <a:sym typeface="Monterchi Sans Bold"/>
              </a:rPr>
              <a:t>end </a:t>
            </a:r>
            <a:r>
              <a:rPr lang="en-US" b="true" sz="4099" strike="noStrike" u="none">
                <a:solidFill>
                  <a:srgbClr val="5D5340"/>
                </a:solidFill>
                <a:latin typeface="Monterchi Sans Bold"/>
                <a:ea typeface="Monterchi Sans Bold"/>
                <a:cs typeface="Monterchi Sans Bold"/>
                <a:sym typeface="Monterchi Sans Bold"/>
              </a:rPr>
              <a:t>and receive data correctly.</a:t>
            </a:r>
          </a:p>
          <a:p>
            <a:pPr algn="l">
              <a:lnSpc>
                <a:spcPts val="5739"/>
              </a:lnSpc>
              <a:spcBef>
                <a:spcPct val="0"/>
              </a:spcBef>
            </a:pPr>
          </a:p>
          <a:p>
            <a:pPr algn="l">
              <a:lnSpc>
                <a:spcPts val="5739"/>
              </a:lnSpc>
              <a:spcBef>
                <a:spcPct val="0"/>
              </a:spcBef>
            </a:pPr>
          </a:p>
        </p:txBody>
      </p:sp>
    </p:spTree>
  </p:cSld>
  <p:clrMapOvr>
    <a:masterClrMapping/>
  </p:clrMapOvr>
  <p:transition spd="fast">
    <p:push dir="l"/>
  </p:transition>
</p:sld>
</file>

<file path=ppt/slides/slide16.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sp>
        <p:nvSpPr>
          <p:cNvPr name="TextBox 2" id="2"/>
          <p:cNvSpPr txBox="true"/>
          <p:nvPr/>
        </p:nvSpPr>
        <p:spPr>
          <a:xfrm rot="0">
            <a:off x="2553980" y="2142196"/>
            <a:ext cx="13180039" cy="1450976"/>
          </a:xfrm>
          <a:prstGeom prst="rect">
            <a:avLst/>
          </a:prstGeom>
        </p:spPr>
        <p:txBody>
          <a:bodyPr anchor="t" rtlCol="false" tIns="0" lIns="0" bIns="0" rIns="0">
            <a:spAutoFit/>
          </a:bodyPr>
          <a:lstStyle/>
          <a:p>
            <a:pPr algn="ctr">
              <a:lnSpc>
                <a:spcPts val="11899"/>
              </a:lnSpc>
            </a:pPr>
            <a:r>
              <a:rPr lang="en-US" sz="8499">
                <a:solidFill>
                  <a:srgbClr val="414B3B"/>
                </a:solidFill>
                <a:latin typeface="Anton"/>
                <a:ea typeface="Anton"/>
                <a:cs typeface="Anton"/>
                <a:sym typeface="Anton"/>
              </a:rPr>
              <a:t>FURTHER TESTING</a:t>
            </a:r>
          </a:p>
        </p:txBody>
      </p:sp>
      <p:sp>
        <p:nvSpPr>
          <p:cNvPr name="TextBox 3" id="3"/>
          <p:cNvSpPr txBox="true"/>
          <p:nvPr/>
        </p:nvSpPr>
        <p:spPr>
          <a:xfrm rot="0">
            <a:off x="1028700" y="3867058"/>
            <a:ext cx="5381802" cy="795020"/>
          </a:xfrm>
          <a:prstGeom prst="rect">
            <a:avLst/>
          </a:prstGeom>
        </p:spPr>
        <p:txBody>
          <a:bodyPr anchor="t" rtlCol="false" tIns="0" lIns="0" bIns="0" rIns="0">
            <a:spAutoFit/>
          </a:bodyPr>
          <a:lstStyle/>
          <a:p>
            <a:pPr algn="l" marL="1014731" indent="-507365" lvl="1">
              <a:lnSpc>
                <a:spcPts val="6580"/>
              </a:lnSpc>
              <a:buFont typeface="Arial"/>
              <a:buChar char="•"/>
            </a:pPr>
            <a:r>
              <a:rPr lang="en-US" b="true" sz="4700">
                <a:solidFill>
                  <a:srgbClr val="414B3B"/>
                </a:solidFill>
                <a:latin typeface="Monterchi Sans Bold"/>
                <a:ea typeface="Monterchi Sans Bold"/>
                <a:cs typeface="Monterchi Sans Bold"/>
                <a:sym typeface="Monterchi Sans Bold"/>
              </a:rPr>
              <a:t>Route Changing</a:t>
            </a:r>
          </a:p>
        </p:txBody>
      </p:sp>
      <p:sp>
        <p:nvSpPr>
          <p:cNvPr name="TextBox 4" id="4"/>
          <p:cNvSpPr txBox="true"/>
          <p:nvPr/>
        </p:nvSpPr>
        <p:spPr>
          <a:xfrm rot="0">
            <a:off x="1028700" y="4595403"/>
            <a:ext cx="7254590" cy="1144366"/>
          </a:xfrm>
          <a:prstGeom prst="rect">
            <a:avLst/>
          </a:prstGeom>
        </p:spPr>
        <p:txBody>
          <a:bodyPr anchor="t" rtlCol="false" tIns="0" lIns="0" bIns="0" rIns="0">
            <a:spAutoFit/>
          </a:bodyPr>
          <a:lstStyle/>
          <a:p>
            <a:pPr algn="l">
              <a:lnSpc>
                <a:spcPts val="4649"/>
              </a:lnSpc>
            </a:pPr>
            <a:r>
              <a:rPr lang="en-US" sz="3321">
                <a:solidFill>
                  <a:srgbClr val="414B3B"/>
                </a:solidFill>
                <a:latin typeface="Monterchi Sans"/>
                <a:ea typeface="Monterchi Sans"/>
                <a:cs typeface="Monterchi Sans"/>
                <a:sym typeface="Monterchi Sans"/>
              </a:rPr>
              <a:t>Notify passenger when rote changes and clearly show new drawn route on screen.</a:t>
            </a:r>
          </a:p>
        </p:txBody>
      </p:sp>
      <p:sp>
        <p:nvSpPr>
          <p:cNvPr name="TextBox 5" id="5"/>
          <p:cNvSpPr txBox="true"/>
          <p:nvPr/>
        </p:nvSpPr>
        <p:spPr>
          <a:xfrm rot="0">
            <a:off x="1028700" y="6497324"/>
            <a:ext cx="8115300" cy="795020"/>
          </a:xfrm>
          <a:prstGeom prst="rect">
            <a:avLst/>
          </a:prstGeom>
        </p:spPr>
        <p:txBody>
          <a:bodyPr anchor="t" rtlCol="false" tIns="0" lIns="0" bIns="0" rIns="0">
            <a:spAutoFit/>
          </a:bodyPr>
          <a:lstStyle/>
          <a:p>
            <a:pPr algn="l" marL="1014731" indent="-507365" lvl="1">
              <a:lnSpc>
                <a:spcPts val="6580"/>
              </a:lnSpc>
              <a:buFont typeface="Arial"/>
              <a:buChar char="•"/>
            </a:pPr>
            <a:r>
              <a:rPr lang="en-US" b="true" sz="4700">
                <a:solidFill>
                  <a:srgbClr val="414B3B"/>
                </a:solidFill>
                <a:latin typeface="Monterchi Sans Bold"/>
                <a:ea typeface="Monterchi Sans Bold"/>
                <a:cs typeface="Monterchi Sans Bold"/>
                <a:sym typeface="Monterchi Sans Bold"/>
              </a:rPr>
              <a:t>Network Di</a:t>
            </a:r>
            <a:r>
              <a:rPr lang="en-US" b="true" sz="4700">
                <a:solidFill>
                  <a:srgbClr val="414B3B"/>
                </a:solidFill>
                <a:latin typeface="Monterchi Sans Bold"/>
                <a:ea typeface="Monterchi Sans Bold"/>
                <a:cs typeface="Monterchi Sans Bold"/>
                <a:sym typeface="Monterchi Sans Bold"/>
              </a:rPr>
              <a:t>sconnection Test</a:t>
            </a:r>
          </a:p>
        </p:txBody>
      </p:sp>
      <p:sp>
        <p:nvSpPr>
          <p:cNvPr name="TextBox 6" id="6"/>
          <p:cNvSpPr txBox="true"/>
          <p:nvPr/>
        </p:nvSpPr>
        <p:spPr>
          <a:xfrm rot="0">
            <a:off x="1028700" y="7225669"/>
            <a:ext cx="7254590" cy="539846"/>
          </a:xfrm>
          <a:prstGeom prst="rect">
            <a:avLst/>
          </a:prstGeom>
        </p:spPr>
        <p:txBody>
          <a:bodyPr anchor="t" rtlCol="false" tIns="0" lIns="0" bIns="0" rIns="0">
            <a:spAutoFit/>
          </a:bodyPr>
          <a:lstStyle/>
          <a:p>
            <a:pPr algn="l">
              <a:lnSpc>
                <a:spcPts val="4369"/>
              </a:lnSpc>
            </a:pPr>
            <a:r>
              <a:rPr lang="en-US" sz="3121">
                <a:solidFill>
                  <a:srgbClr val="414B3B"/>
                </a:solidFill>
                <a:latin typeface="Monterchi Sans"/>
                <a:ea typeface="Monterchi Sans"/>
                <a:cs typeface="Monterchi Sans"/>
                <a:sym typeface="Monterchi Sans"/>
              </a:rPr>
              <a:t>Turning off Wifi and seeing how the app will react</a:t>
            </a:r>
          </a:p>
        </p:txBody>
      </p:sp>
      <p:sp>
        <p:nvSpPr>
          <p:cNvPr name="TextBox 7" id="7"/>
          <p:cNvSpPr txBox="true"/>
          <p:nvPr/>
        </p:nvSpPr>
        <p:spPr>
          <a:xfrm rot="0">
            <a:off x="9550232" y="3867058"/>
            <a:ext cx="6183788" cy="795020"/>
          </a:xfrm>
          <a:prstGeom prst="rect">
            <a:avLst/>
          </a:prstGeom>
        </p:spPr>
        <p:txBody>
          <a:bodyPr anchor="t" rtlCol="false" tIns="0" lIns="0" bIns="0" rIns="0">
            <a:spAutoFit/>
          </a:bodyPr>
          <a:lstStyle/>
          <a:p>
            <a:pPr algn="l" marL="1014731" indent="-507365" lvl="1">
              <a:lnSpc>
                <a:spcPts val="6580"/>
              </a:lnSpc>
              <a:buFont typeface="Arial"/>
              <a:buChar char="•"/>
            </a:pPr>
            <a:r>
              <a:rPr lang="en-US" b="true" sz="4700">
                <a:solidFill>
                  <a:srgbClr val="414B3B"/>
                </a:solidFill>
                <a:latin typeface="Monterchi Sans Bold"/>
                <a:ea typeface="Monterchi Sans Bold"/>
                <a:cs typeface="Monterchi Sans Bold"/>
                <a:sym typeface="Monterchi Sans Bold"/>
              </a:rPr>
              <a:t>Location Accur</a:t>
            </a:r>
            <a:r>
              <a:rPr lang="en-US" b="true" sz="4700">
                <a:solidFill>
                  <a:srgbClr val="414B3B"/>
                </a:solidFill>
                <a:latin typeface="Monterchi Sans Bold"/>
                <a:ea typeface="Monterchi Sans Bold"/>
                <a:cs typeface="Monterchi Sans Bold"/>
                <a:sym typeface="Monterchi Sans Bold"/>
              </a:rPr>
              <a:t>acy Test</a:t>
            </a:r>
          </a:p>
        </p:txBody>
      </p:sp>
      <p:sp>
        <p:nvSpPr>
          <p:cNvPr name="TextBox 8" id="8"/>
          <p:cNvSpPr txBox="true"/>
          <p:nvPr/>
        </p:nvSpPr>
        <p:spPr>
          <a:xfrm rot="0">
            <a:off x="9550232" y="4595403"/>
            <a:ext cx="7276667" cy="1092296"/>
          </a:xfrm>
          <a:prstGeom prst="rect">
            <a:avLst/>
          </a:prstGeom>
        </p:spPr>
        <p:txBody>
          <a:bodyPr anchor="t" rtlCol="false" tIns="0" lIns="0" bIns="0" rIns="0">
            <a:spAutoFit/>
          </a:bodyPr>
          <a:lstStyle/>
          <a:p>
            <a:pPr algn="l">
              <a:lnSpc>
                <a:spcPts val="4369"/>
              </a:lnSpc>
            </a:pPr>
            <a:r>
              <a:rPr lang="en-US" sz="3121">
                <a:solidFill>
                  <a:srgbClr val="414B3B"/>
                </a:solidFill>
                <a:latin typeface="Monterchi Sans"/>
                <a:ea typeface="Monterchi Sans"/>
                <a:cs typeface="Monterchi Sans"/>
                <a:sym typeface="Monterchi Sans"/>
              </a:rPr>
              <a:t>Move around campus and check how accurately the app shows the position on OpenStreetMap.</a:t>
            </a:r>
          </a:p>
        </p:txBody>
      </p:sp>
      <p:sp>
        <p:nvSpPr>
          <p:cNvPr name="TextBox 9" id="9"/>
          <p:cNvSpPr txBox="true"/>
          <p:nvPr/>
        </p:nvSpPr>
        <p:spPr>
          <a:xfrm rot="0">
            <a:off x="9746371" y="6497324"/>
            <a:ext cx="7512929" cy="795020"/>
          </a:xfrm>
          <a:prstGeom prst="rect">
            <a:avLst/>
          </a:prstGeom>
        </p:spPr>
        <p:txBody>
          <a:bodyPr anchor="t" rtlCol="false" tIns="0" lIns="0" bIns="0" rIns="0">
            <a:spAutoFit/>
          </a:bodyPr>
          <a:lstStyle/>
          <a:p>
            <a:pPr algn="l" marL="1014731" indent="-507365" lvl="1">
              <a:lnSpc>
                <a:spcPts val="6580"/>
              </a:lnSpc>
              <a:buFont typeface="Arial"/>
              <a:buChar char="•"/>
            </a:pPr>
            <a:r>
              <a:rPr lang="en-US" b="true" sz="4700">
                <a:solidFill>
                  <a:srgbClr val="414B3B"/>
                </a:solidFill>
                <a:latin typeface="Monterchi Sans Bold"/>
                <a:ea typeface="Monterchi Sans Bold"/>
                <a:cs typeface="Monterchi Sans Bold"/>
                <a:sym typeface="Monterchi Sans Bold"/>
              </a:rPr>
              <a:t>Speed Upd</a:t>
            </a:r>
            <a:r>
              <a:rPr lang="en-US" b="true" sz="4700">
                <a:solidFill>
                  <a:srgbClr val="414B3B"/>
                </a:solidFill>
                <a:latin typeface="Monterchi Sans Bold"/>
                <a:ea typeface="Monterchi Sans Bold"/>
                <a:cs typeface="Monterchi Sans Bold"/>
                <a:sym typeface="Monterchi Sans Bold"/>
              </a:rPr>
              <a:t>ate Delay Test</a:t>
            </a:r>
          </a:p>
        </p:txBody>
      </p:sp>
      <p:sp>
        <p:nvSpPr>
          <p:cNvPr name="TextBox 10" id="10"/>
          <p:cNvSpPr txBox="true"/>
          <p:nvPr/>
        </p:nvSpPr>
        <p:spPr>
          <a:xfrm rot="0">
            <a:off x="9746371" y="7225669"/>
            <a:ext cx="7080527" cy="1092296"/>
          </a:xfrm>
          <a:prstGeom prst="rect">
            <a:avLst/>
          </a:prstGeom>
        </p:spPr>
        <p:txBody>
          <a:bodyPr anchor="t" rtlCol="false" tIns="0" lIns="0" bIns="0" rIns="0">
            <a:spAutoFit/>
          </a:bodyPr>
          <a:lstStyle/>
          <a:p>
            <a:pPr algn="l">
              <a:lnSpc>
                <a:spcPts val="4369"/>
              </a:lnSpc>
            </a:pPr>
            <a:r>
              <a:rPr lang="en-US" sz="3121">
                <a:solidFill>
                  <a:srgbClr val="414B3B"/>
                </a:solidFill>
                <a:latin typeface="Monterchi Sans"/>
                <a:ea typeface="Monterchi Sans"/>
                <a:cs typeface="Monterchi Sans"/>
                <a:sym typeface="Monterchi Sans"/>
              </a:rPr>
              <a:t>Check if there’s a noticeable lag between actual vehicle movement and app display</a:t>
            </a:r>
          </a:p>
        </p:txBody>
      </p:sp>
      <p:grpSp>
        <p:nvGrpSpPr>
          <p:cNvPr name="Group 11" id="11"/>
          <p:cNvGrpSpPr/>
          <p:nvPr/>
        </p:nvGrpSpPr>
        <p:grpSpPr>
          <a:xfrm rot="-5400000">
            <a:off x="8529984" y="-8356629"/>
            <a:ext cx="1282633" cy="18770658"/>
            <a:chOff x="0" y="0"/>
            <a:chExt cx="337813" cy="4943712"/>
          </a:xfrm>
        </p:grpSpPr>
        <p:sp>
          <p:nvSpPr>
            <p:cNvPr name="Freeform 12" id="12"/>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2B3425"/>
            </a:solidFill>
          </p:spPr>
        </p:sp>
        <p:sp>
          <p:nvSpPr>
            <p:cNvPr name="TextBox 13" id="13"/>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6424818" y="596299"/>
            <a:ext cx="804162" cy="864802"/>
            <a:chOff x="0" y="0"/>
            <a:chExt cx="211796" cy="227767"/>
          </a:xfrm>
        </p:grpSpPr>
        <p:sp>
          <p:nvSpPr>
            <p:cNvPr name="Freeform 15" id="15"/>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16" id="16"/>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5400000">
            <a:off x="8502684" y="926822"/>
            <a:ext cx="1282633" cy="18770658"/>
            <a:chOff x="0" y="0"/>
            <a:chExt cx="337813" cy="4943712"/>
          </a:xfrm>
        </p:grpSpPr>
        <p:sp>
          <p:nvSpPr>
            <p:cNvPr name="Freeform 18" id="18"/>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2B3425"/>
            </a:solidFill>
          </p:spPr>
        </p:sp>
        <p:sp>
          <p:nvSpPr>
            <p:cNvPr name="TextBox 19" id="19"/>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F9F3"/>
                </a:solidFill>
                <a:latin typeface="Monterchi Sans"/>
                <a:ea typeface="Monterchi Sans"/>
                <a:cs typeface="Monterchi Sans"/>
                <a:sym typeface="Monterchi Sans"/>
              </a:rPr>
              <a:t>Page</a:t>
            </a:r>
          </a:p>
        </p:txBody>
      </p:sp>
      <p:sp>
        <p:nvSpPr>
          <p:cNvPr name="TextBox 21" id="21"/>
          <p:cNvSpPr txBox="true"/>
          <p:nvPr/>
        </p:nvSpPr>
        <p:spPr>
          <a:xfrm rot="0">
            <a:off x="16471512" y="720408"/>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strike="noStrike" u="none">
                <a:solidFill>
                  <a:srgbClr val="5D5340"/>
                </a:solidFill>
                <a:latin typeface="Monterchi Sans Bold"/>
                <a:ea typeface="Monterchi Sans Bold"/>
                <a:cs typeface="Monterchi Sans Bold"/>
                <a:sym typeface="Monterchi Sans Bold"/>
              </a:rPr>
              <a:t>16</a:t>
            </a:r>
          </a:p>
        </p:txBody>
      </p:sp>
      <p:sp>
        <p:nvSpPr>
          <p:cNvPr name="TextBox 22" id="22"/>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Tree>
  </p:cSld>
  <p:clrMapOvr>
    <a:masterClrMapping/>
  </p:clrMapOvr>
  <p:transition spd="fast">
    <p:push dir="l"/>
  </p:transition>
</p:sld>
</file>

<file path=ppt/slides/slide17.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2B3425"/>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2B3425"/>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F9F3"/>
                </a:solidFill>
                <a:latin typeface="Monterchi Sans"/>
                <a:ea typeface="Monterchi Sans"/>
                <a:cs typeface="Monterchi Sans"/>
                <a:sym typeface="Monterchi Sans"/>
              </a:rPr>
              <a:t>Page</a:t>
            </a:r>
          </a:p>
        </p:txBody>
      </p:sp>
      <p:sp>
        <p:nvSpPr>
          <p:cNvPr name="TextBox 12" id="12"/>
          <p:cNvSpPr txBox="true"/>
          <p:nvPr/>
        </p:nvSpPr>
        <p:spPr>
          <a:xfrm rot="0">
            <a:off x="16471512" y="720408"/>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strike="noStrike" u="none">
                <a:solidFill>
                  <a:srgbClr val="5D5340"/>
                </a:solidFill>
                <a:latin typeface="Monterchi Sans Bold"/>
                <a:ea typeface="Monterchi Sans Bold"/>
                <a:cs typeface="Monterchi Sans Bold"/>
                <a:sym typeface="Monterchi Sans Bold"/>
              </a:rPr>
              <a:t>17</a:t>
            </a:r>
          </a:p>
        </p:txBody>
      </p:sp>
      <p:sp>
        <p:nvSpPr>
          <p:cNvPr name="TextBox 13" id="13"/>
          <p:cNvSpPr txBox="true"/>
          <p:nvPr/>
        </p:nvSpPr>
        <p:spPr>
          <a:xfrm rot="0">
            <a:off x="832277" y="1707353"/>
            <a:ext cx="4629739" cy="1450976"/>
          </a:xfrm>
          <a:prstGeom prst="rect">
            <a:avLst/>
          </a:prstGeom>
        </p:spPr>
        <p:txBody>
          <a:bodyPr anchor="t" rtlCol="false" tIns="0" lIns="0" bIns="0" rIns="0">
            <a:spAutoFit/>
          </a:bodyPr>
          <a:lstStyle/>
          <a:p>
            <a:pPr algn="l">
              <a:lnSpc>
                <a:spcPts val="11899"/>
              </a:lnSpc>
            </a:pPr>
            <a:r>
              <a:rPr lang="en-US" sz="8499">
                <a:solidFill>
                  <a:srgbClr val="414B3B"/>
                </a:solidFill>
                <a:latin typeface="Anton"/>
                <a:ea typeface="Anton"/>
                <a:cs typeface="Anton"/>
                <a:sym typeface="Anton"/>
              </a:rPr>
              <a:t>RESULTS</a:t>
            </a:r>
          </a:p>
        </p:txBody>
      </p:sp>
      <p:sp>
        <p:nvSpPr>
          <p:cNvPr name="TextBox 14" id="14"/>
          <p:cNvSpPr txBox="true"/>
          <p:nvPr/>
        </p:nvSpPr>
        <p:spPr>
          <a:xfrm rot="0">
            <a:off x="569252" y="3444079"/>
            <a:ext cx="14673523" cy="5772786"/>
          </a:xfrm>
          <a:prstGeom prst="rect">
            <a:avLst/>
          </a:prstGeom>
        </p:spPr>
        <p:txBody>
          <a:bodyPr anchor="t" rtlCol="false" tIns="0" lIns="0" bIns="0" rIns="0">
            <a:spAutoFit/>
          </a:bodyPr>
          <a:lstStyle/>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Successfully built a working mobile app for in-campus-AV and passenger real-time interaction</a:t>
            </a:r>
            <a:r>
              <a:rPr lang="en-US" b="true" sz="4099" strike="noStrike" u="none">
                <a:solidFill>
                  <a:srgbClr val="5D5340"/>
                </a:solidFill>
                <a:latin typeface="Monterchi Sans Bold"/>
                <a:ea typeface="Monterchi Sans Bold"/>
                <a:cs typeface="Monterchi Sans Bold"/>
                <a:sym typeface="Monterchi Sans Bold"/>
              </a:rPr>
              <a:t>.</a:t>
            </a: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Real-time vehicle location and speed are displayed accurately using device GPS.</a:t>
            </a: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ROS2 integration successfully sends and receives data from the AV system.</a:t>
            </a:r>
          </a:p>
          <a:p>
            <a:pPr algn="l" marL="885186" indent="-442593" lvl="1">
              <a:lnSpc>
                <a:spcPts val="5739"/>
              </a:lnSpc>
              <a:spcBef>
                <a:spcPct val="0"/>
              </a:spcBef>
              <a:buFont typeface="Arial"/>
              <a:buChar char="•"/>
            </a:pPr>
            <a:r>
              <a:rPr lang="en-US" b="true" sz="4099" strike="noStrike" u="none">
                <a:solidFill>
                  <a:srgbClr val="5D5340"/>
                </a:solidFill>
                <a:latin typeface="Monterchi Sans Bold"/>
                <a:ea typeface="Monterchi Sans Bold"/>
                <a:cs typeface="Monterchi Sans Bold"/>
                <a:sym typeface="Monterchi Sans Bold"/>
              </a:rPr>
              <a:t>Custom backend and authentication system built.</a:t>
            </a:r>
          </a:p>
          <a:p>
            <a:pPr algn="l">
              <a:lnSpc>
                <a:spcPts val="5739"/>
              </a:lnSpc>
              <a:spcBef>
                <a:spcPct val="0"/>
              </a:spcBef>
            </a:pPr>
          </a:p>
        </p:txBody>
      </p:sp>
      <p:sp>
        <p:nvSpPr>
          <p:cNvPr name="TextBox 15" id="15"/>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Tree>
  </p:cSld>
  <p:clrMapOvr>
    <a:masterClrMapping/>
  </p:clrMapOvr>
  <p:transition spd="fast">
    <p:push dir="l"/>
  </p:transition>
</p:sld>
</file>

<file path=ppt/slides/slide18.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2889284"/>
            <a:ext cx="5832970" cy="1450976"/>
          </a:xfrm>
          <a:prstGeom prst="rect">
            <a:avLst/>
          </a:prstGeom>
        </p:spPr>
        <p:txBody>
          <a:bodyPr anchor="t" rtlCol="false" tIns="0" lIns="0" bIns="0" rIns="0">
            <a:spAutoFit/>
          </a:bodyPr>
          <a:lstStyle/>
          <a:p>
            <a:pPr algn="l">
              <a:lnSpc>
                <a:spcPts val="11899"/>
              </a:lnSpc>
            </a:pPr>
            <a:r>
              <a:rPr lang="en-US" sz="8499">
                <a:solidFill>
                  <a:srgbClr val="5D5340"/>
                </a:solidFill>
                <a:latin typeface="Anton"/>
                <a:ea typeface="Anton"/>
                <a:cs typeface="Anton"/>
                <a:sym typeface="Anton"/>
              </a:rPr>
              <a:t>CONCLUSION</a:t>
            </a:r>
          </a:p>
        </p:txBody>
      </p:sp>
      <p:sp>
        <p:nvSpPr>
          <p:cNvPr name="TextBox 12" id="12"/>
          <p:cNvSpPr txBox="true"/>
          <p:nvPr/>
        </p:nvSpPr>
        <p:spPr>
          <a:xfrm rot="0">
            <a:off x="1028700" y="4392896"/>
            <a:ext cx="12945484" cy="4083050"/>
          </a:xfrm>
          <a:prstGeom prst="rect">
            <a:avLst/>
          </a:prstGeom>
        </p:spPr>
        <p:txBody>
          <a:bodyPr anchor="t" rtlCol="false" tIns="0" lIns="0" bIns="0" rIns="0">
            <a:spAutoFit/>
          </a:bodyPr>
          <a:lstStyle/>
          <a:p>
            <a:pPr algn="l">
              <a:lnSpc>
                <a:spcPts val="5424"/>
              </a:lnSpc>
            </a:pPr>
            <a:r>
              <a:rPr lang="en-US" sz="3499" b="true">
                <a:solidFill>
                  <a:srgbClr val="5D5340"/>
                </a:solidFill>
                <a:latin typeface="Monterchi Sans Bold"/>
                <a:ea typeface="Monterchi Sans Bold"/>
                <a:cs typeface="Monterchi Sans Bold"/>
                <a:sym typeface="Monterchi Sans Bold"/>
              </a:rPr>
              <a:t>This project successfully built the main parts of GO-DRiVeS — a mobile app that connects people with self-driving golf cars on campus. It includes passenger and pedestrain interfaces, live data sharing, and key user features. This is an important step in making AVs more useful for everyday campus travel. With more testing and new features, GO-DRiVeS can become a helpful and reliable tool for smarter campus transportation.</a:t>
            </a:r>
          </a:p>
        </p:txBody>
      </p:sp>
      <p:sp>
        <p:nvSpPr>
          <p:cNvPr name="TextBox 13" id="13"/>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F9F3"/>
                </a:solidFill>
                <a:latin typeface="Monterchi Sans"/>
                <a:ea typeface="Monterchi Sans"/>
                <a:cs typeface="Monterchi Sans"/>
                <a:sym typeface="Monterchi Sans"/>
              </a:rPr>
              <a:t>Page</a:t>
            </a:r>
          </a:p>
        </p:txBody>
      </p:sp>
      <p:sp>
        <p:nvSpPr>
          <p:cNvPr name="TextBox 14" id="14"/>
          <p:cNvSpPr txBox="true"/>
          <p:nvPr/>
        </p:nvSpPr>
        <p:spPr>
          <a:xfrm rot="0">
            <a:off x="16471512" y="720408"/>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strike="noStrike" u="none">
                <a:solidFill>
                  <a:srgbClr val="5D5340"/>
                </a:solidFill>
                <a:latin typeface="Monterchi Sans Bold"/>
                <a:ea typeface="Monterchi Sans Bold"/>
                <a:cs typeface="Monterchi Sans Bold"/>
                <a:sym typeface="Monterchi Sans Bold"/>
              </a:rPr>
              <a:t>18</a:t>
            </a:r>
          </a:p>
        </p:txBody>
      </p:sp>
      <p:sp>
        <p:nvSpPr>
          <p:cNvPr name="TextBox 15" id="15"/>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Tree>
  </p:cSld>
  <p:clrMapOvr>
    <a:masterClrMapping/>
  </p:clrMapOvr>
  <p:transition spd="fast">
    <p:push dir="l"/>
  </p:transition>
</p:sld>
</file>

<file path=ppt/slides/slide19.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2B3425"/>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2B3425"/>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800100" y="4259238"/>
            <a:ext cx="7530658" cy="795020"/>
          </a:xfrm>
          <a:prstGeom prst="rect">
            <a:avLst/>
          </a:prstGeom>
        </p:spPr>
        <p:txBody>
          <a:bodyPr anchor="t" rtlCol="false" tIns="0" lIns="0" bIns="0" rIns="0">
            <a:spAutoFit/>
          </a:bodyPr>
          <a:lstStyle/>
          <a:p>
            <a:pPr algn="l" marL="1014731" indent="-507365" lvl="1">
              <a:lnSpc>
                <a:spcPts val="6580"/>
              </a:lnSpc>
              <a:buFont typeface="Arial"/>
              <a:buChar char="•"/>
            </a:pPr>
            <a:r>
              <a:rPr lang="en-US" b="true" sz="4700">
                <a:solidFill>
                  <a:srgbClr val="414B3B"/>
                </a:solidFill>
                <a:latin typeface="Monterchi Sans Bold"/>
                <a:ea typeface="Monterchi Sans Bold"/>
                <a:cs typeface="Monterchi Sans Bold"/>
                <a:sym typeface="Monterchi Sans Bold"/>
              </a:rPr>
              <a:t>Improve UI</a:t>
            </a:r>
          </a:p>
        </p:txBody>
      </p:sp>
      <p:sp>
        <p:nvSpPr>
          <p:cNvPr name="TextBox 12" id="12"/>
          <p:cNvSpPr txBox="true"/>
          <p:nvPr/>
        </p:nvSpPr>
        <p:spPr>
          <a:xfrm rot="0">
            <a:off x="800100" y="6536211"/>
            <a:ext cx="7530658" cy="795020"/>
          </a:xfrm>
          <a:prstGeom prst="rect">
            <a:avLst/>
          </a:prstGeom>
        </p:spPr>
        <p:txBody>
          <a:bodyPr anchor="t" rtlCol="false" tIns="0" lIns="0" bIns="0" rIns="0">
            <a:spAutoFit/>
          </a:bodyPr>
          <a:lstStyle/>
          <a:p>
            <a:pPr algn="l" marL="1014731" indent="-507365" lvl="1">
              <a:lnSpc>
                <a:spcPts val="6580"/>
              </a:lnSpc>
              <a:buFont typeface="Arial"/>
              <a:buChar char="•"/>
            </a:pPr>
            <a:r>
              <a:rPr lang="en-US" b="true" sz="4700">
                <a:solidFill>
                  <a:srgbClr val="414B3B"/>
                </a:solidFill>
                <a:latin typeface="Monterchi Sans Bold"/>
                <a:ea typeface="Monterchi Sans Bold"/>
                <a:cs typeface="Monterchi Sans Bold"/>
                <a:sym typeface="Monterchi Sans Bold"/>
              </a:rPr>
              <a:t>Offlin</a:t>
            </a:r>
            <a:r>
              <a:rPr lang="en-US" b="true" sz="4700">
                <a:solidFill>
                  <a:srgbClr val="414B3B"/>
                </a:solidFill>
                <a:latin typeface="Monterchi Sans Bold"/>
                <a:ea typeface="Monterchi Sans Bold"/>
                <a:cs typeface="Monterchi Sans Bold"/>
                <a:sym typeface="Monterchi Sans Bold"/>
              </a:rPr>
              <a:t>e Mode + Auto-Sync</a:t>
            </a:r>
          </a:p>
        </p:txBody>
      </p:sp>
      <p:sp>
        <p:nvSpPr>
          <p:cNvPr name="TextBox 13" id="13"/>
          <p:cNvSpPr txBox="true"/>
          <p:nvPr/>
        </p:nvSpPr>
        <p:spPr>
          <a:xfrm rot="0">
            <a:off x="800100" y="5180242"/>
            <a:ext cx="11801607" cy="613019"/>
          </a:xfrm>
          <a:prstGeom prst="rect">
            <a:avLst/>
          </a:prstGeom>
        </p:spPr>
        <p:txBody>
          <a:bodyPr anchor="t" rtlCol="false" tIns="0" lIns="0" bIns="0" rIns="0">
            <a:spAutoFit/>
          </a:bodyPr>
          <a:lstStyle/>
          <a:p>
            <a:pPr algn="l">
              <a:lnSpc>
                <a:spcPts val="5061"/>
              </a:lnSpc>
            </a:pPr>
            <a:r>
              <a:rPr lang="en-US" sz="3615">
                <a:solidFill>
                  <a:srgbClr val="414B3B"/>
                </a:solidFill>
                <a:latin typeface="Monterchi Sans"/>
                <a:ea typeface="Monterchi Sans"/>
                <a:cs typeface="Monterchi Sans"/>
                <a:sym typeface="Monterchi Sans"/>
              </a:rPr>
              <a:t>Implement larger buttons and voice feedback for visually impaired users.</a:t>
            </a:r>
          </a:p>
        </p:txBody>
      </p:sp>
      <p:sp>
        <p:nvSpPr>
          <p:cNvPr name="TextBox 14" id="14"/>
          <p:cNvSpPr txBox="true"/>
          <p:nvPr/>
        </p:nvSpPr>
        <p:spPr>
          <a:xfrm rot="0">
            <a:off x="800100" y="7455055"/>
            <a:ext cx="11801607" cy="1889369"/>
          </a:xfrm>
          <a:prstGeom prst="rect">
            <a:avLst/>
          </a:prstGeom>
        </p:spPr>
        <p:txBody>
          <a:bodyPr anchor="t" rtlCol="false" tIns="0" lIns="0" bIns="0" rIns="0">
            <a:spAutoFit/>
          </a:bodyPr>
          <a:lstStyle/>
          <a:p>
            <a:pPr algn="l">
              <a:lnSpc>
                <a:spcPts val="5061"/>
              </a:lnSpc>
            </a:pPr>
            <a:r>
              <a:rPr lang="en-US" sz="3615">
                <a:solidFill>
                  <a:srgbClr val="414B3B"/>
                </a:solidFill>
                <a:latin typeface="Monterchi Sans"/>
                <a:ea typeface="Monterchi Sans"/>
                <a:cs typeface="Monterchi Sans"/>
                <a:sym typeface="Monterchi Sans"/>
              </a:rPr>
              <a:t>Let the app function temporarily offline and sync ride history/data once connection is restored — helpful in dead zones or areas with bad connection.</a:t>
            </a:r>
          </a:p>
        </p:txBody>
      </p:sp>
      <p:sp>
        <p:nvSpPr>
          <p:cNvPr name="TextBox 15" id="15"/>
          <p:cNvSpPr txBox="true"/>
          <p:nvPr/>
        </p:nvSpPr>
        <p:spPr>
          <a:xfrm rot="0">
            <a:off x="477065" y="2463914"/>
            <a:ext cx="12632135" cy="1450976"/>
          </a:xfrm>
          <a:prstGeom prst="rect">
            <a:avLst/>
          </a:prstGeom>
        </p:spPr>
        <p:txBody>
          <a:bodyPr anchor="t" rtlCol="false" tIns="0" lIns="0" bIns="0" rIns="0">
            <a:spAutoFit/>
          </a:bodyPr>
          <a:lstStyle/>
          <a:p>
            <a:pPr algn="l">
              <a:lnSpc>
                <a:spcPts val="11899"/>
              </a:lnSpc>
            </a:pPr>
            <a:r>
              <a:rPr lang="en-US" sz="8499">
                <a:solidFill>
                  <a:srgbClr val="414B3B"/>
                </a:solidFill>
                <a:latin typeface="Anton"/>
                <a:ea typeface="Anton"/>
                <a:cs typeface="Anton"/>
                <a:sym typeface="Anton"/>
              </a:rPr>
              <a:t>FUTURE </a:t>
            </a:r>
            <a:r>
              <a:rPr lang="en-US" sz="8499">
                <a:solidFill>
                  <a:srgbClr val="414B3B"/>
                </a:solidFill>
                <a:latin typeface="Anton"/>
                <a:ea typeface="Anton"/>
                <a:cs typeface="Anton"/>
                <a:sym typeface="Anton"/>
              </a:rPr>
              <a:t>RECOMMENDATIONS</a:t>
            </a:r>
          </a:p>
        </p:txBody>
      </p:sp>
      <p:sp>
        <p:nvSpPr>
          <p:cNvPr name="TextBox 16" id="16"/>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F9F3"/>
                </a:solidFill>
                <a:latin typeface="Monterchi Sans"/>
                <a:ea typeface="Monterchi Sans"/>
                <a:cs typeface="Monterchi Sans"/>
                <a:sym typeface="Monterchi Sans"/>
              </a:rPr>
              <a:t>Page</a:t>
            </a:r>
          </a:p>
        </p:txBody>
      </p:sp>
      <p:sp>
        <p:nvSpPr>
          <p:cNvPr name="TextBox 17" id="17"/>
          <p:cNvSpPr txBox="true"/>
          <p:nvPr/>
        </p:nvSpPr>
        <p:spPr>
          <a:xfrm rot="0">
            <a:off x="16471512" y="720408"/>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strike="noStrike" u="none">
                <a:solidFill>
                  <a:srgbClr val="5D5340"/>
                </a:solidFill>
                <a:latin typeface="Monterchi Sans Bold"/>
                <a:ea typeface="Monterchi Sans Bold"/>
                <a:cs typeface="Monterchi Sans Bold"/>
                <a:sym typeface="Monterchi Sans Bold"/>
              </a:rPr>
              <a:t>19</a:t>
            </a:r>
          </a:p>
        </p:txBody>
      </p:sp>
      <p:sp>
        <p:nvSpPr>
          <p:cNvPr name="TextBox 18" id="18"/>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Tree>
  </p:cSld>
  <p:clrMapOvr>
    <a:masterClrMapping/>
  </p:clrMapOvr>
  <p:transition spd="fast">
    <p:push dir="l"/>
  </p:transition>
</p:sld>
</file>

<file path=ppt/slides/slide20.xml><?xml version="1.0" encoding="utf-8"?>
<p:sld xmlns:p="http://schemas.openxmlformats.org/presentationml/2006/main" xmlns:a="http://schemas.openxmlformats.org/drawingml/2006/main">
  <p:cSld>
    <p:bg>
      <p:bgPr>
        <a:solidFill>
          <a:srgbClr val="FFF9F3"/>
        </a:solidFill>
      </p:bgPr>
    </p:bg>
    <p:spTree>
      <p:nvGrpSpPr>
        <p:cNvPr id="1" name=""/>
        <p:cNvGrpSpPr/>
        <p:nvPr/>
      </p:nvGrpSpPr>
      <p:grpSpPr>
        <a:xfrm>
          <a:off x="0" y="0"/>
          <a:ext cx="0" cy="0"/>
          <a:chOff x="0" y="0"/>
          <a:chExt cx="0" cy="0"/>
        </a:xfrm>
      </p:grpSpPr>
      <p:grpSp>
        <p:nvGrpSpPr>
          <p:cNvPr name="Group 2" id="2"/>
          <p:cNvGrpSpPr/>
          <p:nvPr/>
        </p:nvGrpSpPr>
        <p:grpSpPr>
          <a:xfrm rot="-5400000">
            <a:off x="8529984" y="-8356629"/>
            <a:ext cx="1282633" cy="18770658"/>
            <a:chOff x="0" y="0"/>
            <a:chExt cx="337813" cy="4943712"/>
          </a:xfrm>
        </p:grpSpPr>
        <p:sp>
          <p:nvSpPr>
            <p:cNvPr name="Freeform 3" id="3"/>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4" id="4"/>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6424818" y="596299"/>
            <a:ext cx="804162" cy="864802"/>
            <a:chOff x="0" y="0"/>
            <a:chExt cx="211796" cy="227767"/>
          </a:xfrm>
        </p:grpSpPr>
        <p:sp>
          <p:nvSpPr>
            <p:cNvPr name="Freeform 6" id="6"/>
            <p:cNvSpPr/>
            <p:nvPr/>
          </p:nvSpPr>
          <p:spPr>
            <a:xfrm flipH="false" flipV="false" rot="0">
              <a:off x="0" y="0"/>
              <a:ext cx="211796" cy="227767"/>
            </a:xfrm>
            <a:custGeom>
              <a:avLst/>
              <a:gdLst/>
              <a:ahLst/>
              <a:cxnLst/>
              <a:rect r="r" b="b" t="t" l="l"/>
              <a:pathLst>
                <a:path h="227767" w="211796">
                  <a:moveTo>
                    <a:pt x="0" y="0"/>
                  </a:moveTo>
                  <a:lnTo>
                    <a:pt x="211796" y="0"/>
                  </a:lnTo>
                  <a:lnTo>
                    <a:pt x="211796" y="227767"/>
                  </a:lnTo>
                  <a:lnTo>
                    <a:pt x="0" y="227767"/>
                  </a:lnTo>
                  <a:close/>
                </a:path>
              </a:pathLst>
            </a:custGeom>
            <a:solidFill>
              <a:srgbClr val="FFEBEB"/>
            </a:solidFill>
          </p:spPr>
        </p:sp>
        <p:sp>
          <p:nvSpPr>
            <p:cNvPr name="TextBox 7" id="7"/>
            <p:cNvSpPr txBox="true"/>
            <p:nvPr/>
          </p:nvSpPr>
          <p:spPr>
            <a:xfrm>
              <a:off x="0" y="-28575"/>
              <a:ext cx="211796" cy="2563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8502684" y="926822"/>
            <a:ext cx="1282633" cy="18770658"/>
            <a:chOff x="0" y="0"/>
            <a:chExt cx="337813" cy="4943712"/>
          </a:xfrm>
        </p:grpSpPr>
        <p:sp>
          <p:nvSpPr>
            <p:cNvPr name="Freeform 9" id="9"/>
            <p:cNvSpPr/>
            <p:nvPr/>
          </p:nvSpPr>
          <p:spPr>
            <a:xfrm flipH="false" flipV="false" rot="0">
              <a:off x="0" y="0"/>
              <a:ext cx="337813" cy="4943713"/>
            </a:xfrm>
            <a:custGeom>
              <a:avLst/>
              <a:gdLst/>
              <a:ahLst/>
              <a:cxnLst/>
              <a:rect r="r" b="b" t="t" l="l"/>
              <a:pathLst>
                <a:path h="4943713" w="337813">
                  <a:moveTo>
                    <a:pt x="0" y="0"/>
                  </a:moveTo>
                  <a:lnTo>
                    <a:pt x="337813" y="0"/>
                  </a:lnTo>
                  <a:lnTo>
                    <a:pt x="337813" y="4943713"/>
                  </a:lnTo>
                  <a:lnTo>
                    <a:pt x="0" y="4943713"/>
                  </a:lnTo>
                  <a:close/>
                </a:path>
              </a:pathLst>
            </a:custGeom>
            <a:solidFill>
              <a:srgbClr val="414B3B"/>
            </a:solidFill>
          </p:spPr>
        </p:sp>
        <p:sp>
          <p:nvSpPr>
            <p:cNvPr name="TextBox 10" id="10"/>
            <p:cNvSpPr txBox="true"/>
            <p:nvPr/>
          </p:nvSpPr>
          <p:spPr>
            <a:xfrm>
              <a:off x="0" y="-28575"/>
              <a:ext cx="337813" cy="4972287"/>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5514710" y="782955"/>
            <a:ext cx="1163909" cy="530861"/>
          </a:xfrm>
          <a:prstGeom prst="rect">
            <a:avLst/>
          </a:prstGeom>
        </p:spPr>
        <p:txBody>
          <a:bodyPr anchor="t" rtlCol="false" tIns="0" lIns="0" bIns="0" rIns="0">
            <a:spAutoFit/>
          </a:bodyPr>
          <a:lstStyle/>
          <a:p>
            <a:pPr algn="l">
              <a:lnSpc>
                <a:spcPts val="4339"/>
              </a:lnSpc>
            </a:pPr>
            <a:r>
              <a:rPr lang="en-US" sz="3099">
                <a:solidFill>
                  <a:srgbClr val="FFF9F3"/>
                </a:solidFill>
                <a:latin typeface="Monterchi Sans"/>
                <a:ea typeface="Monterchi Sans"/>
                <a:cs typeface="Monterchi Sans"/>
                <a:sym typeface="Monterchi Sans"/>
              </a:rPr>
              <a:t>Page</a:t>
            </a:r>
          </a:p>
        </p:txBody>
      </p:sp>
      <p:sp>
        <p:nvSpPr>
          <p:cNvPr name="TextBox 12" id="12"/>
          <p:cNvSpPr txBox="true"/>
          <p:nvPr/>
        </p:nvSpPr>
        <p:spPr>
          <a:xfrm rot="0">
            <a:off x="16471512" y="720408"/>
            <a:ext cx="710773" cy="679452"/>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5D5340"/>
                </a:solidFill>
                <a:latin typeface="Monterchi Sans Bold"/>
                <a:ea typeface="Monterchi Sans Bold"/>
                <a:cs typeface="Monterchi Sans Bold"/>
                <a:sym typeface="Monterchi Sans Bold"/>
              </a:rPr>
              <a:t>20</a:t>
            </a:r>
          </a:p>
        </p:txBody>
      </p:sp>
      <p:sp>
        <p:nvSpPr>
          <p:cNvPr name="TextBox 13" id="13"/>
          <p:cNvSpPr txBox="true"/>
          <p:nvPr/>
        </p:nvSpPr>
        <p:spPr>
          <a:xfrm rot="0">
            <a:off x="1346341" y="3844310"/>
            <a:ext cx="15649919" cy="2910564"/>
          </a:xfrm>
          <a:prstGeom prst="rect">
            <a:avLst/>
          </a:prstGeom>
        </p:spPr>
        <p:txBody>
          <a:bodyPr anchor="t" rtlCol="false" tIns="0" lIns="0" bIns="0" rIns="0">
            <a:spAutoFit/>
          </a:bodyPr>
          <a:lstStyle/>
          <a:p>
            <a:pPr algn="ctr">
              <a:lnSpc>
                <a:spcPts val="21689"/>
              </a:lnSpc>
            </a:pPr>
            <a:r>
              <a:rPr lang="en-US" sz="22360">
                <a:solidFill>
                  <a:srgbClr val="414B3B"/>
                </a:solidFill>
                <a:latin typeface="Anton"/>
                <a:ea typeface="Anton"/>
                <a:cs typeface="Anton"/>
                <a:sym typeface="Anton"/>
              </a:rPr>
              <a:t>THANK YOU</a:t>
            </a:r>
          </a:p>
        </p:txBody>
      </p:sp>
      <p:grpSp>
        <p:nvGrpSpPr>
          <p:cNvPr name="Group 14" id="14"/>
          <p:cNvGrpSpPr/>
          <p:nvPr/>
        </p:nvGrpSpPr>
        <p:grpSpPr>
          <a:xfrm rot="0">
            <a:off x="4083217" y="6754874"/>
            <a:ext cx="10121567" cy="1236966"/>
            <a:chOff x="0" y="0"/>
            <a:chExt cx="3325398" cy="406400"/>
          </a:xfrm>
        </p:grpSpPr>
        <p:sp>
          <p:nvSpPr>
            <p:cNvPr name="Freeform 15" id="15"/>
            <p:cNvSpPr/>
            <p:nvPr/>
          </p:nvSpPr>
          <p:spPr>
            <a:xfrm flipH="false" flipV="false" rot="0">
              <a:off x="0" y="0"/>
              <a:ext cx="3325398" cy="406400"/>
            </a:xfrm>
            <a:custGeom>
              <a:avLst/>
              <a:gdLst/>
              <a:ahLst/>
              <a:cxnLst/>
              <a:rect r="r" b="b" t="t" l="l"/>
              <a:pathLst>
                <a:path h="406400" w="3325398">
                  <a:moveTo>
                    <a:pt x="3122198" y="0"/>
                  </a:moveTo>
                  <a:cubicBezTo>
                    <a:pt x="3234422" y="0"/>
                    <a:pt x="3325398" y="90976"/>
                    <a:pt x="3325398" y="203200"/>
                  </a:cubicBezTo>
                  <a:cubicBezTo>
                    <a:pt x="3325398" y="315424"/>
                    <a:pt x="3234422" y="406400"/>
                    <a:pt x="3122198"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745E4D"/>
              </a:solidFill>
              <a:prstDash val="solid"/>
              <a:miter/>
            </a:ln>
          </p:spPr>
        </p:sp>
        <p:sp>
          <p:nvSpPr>
            <p:cNvPr name="TextBox 16" id="16"/>
            <p:cNvSpPr txBox="true"/>
            <p:nvPr/>
          </p:nvSpPr>
          <p:spPr>
            <a:xfrm>
              <a:off x="0" y="-28575"/>
              <a:ext cx="3325398" cy="434975"/>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4702278" y="6873030"/>
            <a:ext cx="8883445" cy="985392"/>
          </a:xfrm>
          <a:prstGeom prst="rect">
            <a:avLst/>
          </a:prstGeom>
        </p:spPr>
        <p:txBody>
          <a:bodyPr anchor="t" rtlCol="false" tIns="0" lIns="0" bIns="0" rIns="0">
            <a:spAutoFit/>
          </a:bodyPr>
          <a:lstStyle/>
          <a:p>
            <a:pPr algn="ctr">
              <a:lnSpc>
                <a:spcPts val="8162"/>
              </a:lnSpc>
            </a:pPr>
            <a:r>
              <a:rPr lang="en-US" sz="5830" spc="583">
                <a:solidFill>
                  <a:srgbClr val="5D5340"/>
                </a:solidFill>
                <a:latin typeface="Monterchi Sans"/>
                <a:ea typeface="Monterchi Sans"/>
                <a:cs typeface="Monterchi Sans"/>
                <a:sym typeface="Monterchi Sans"/>
              </a:rPr>
              <a:t>FOR YOUR ATTENTION</a:t>
            </a:r>
          </a:p>
        </p:txBody>
      </p:sp>
      <p:sp>
        <p:nvSpPr>
          <p:cNvPr name="TextBox 18" id="18"/>
          <p:cNvSpPr txBox="true"/>
          <p:nvPr/>
        </p:nvSpPr>
        <p:spPr>
          <a:xfrm rot="0">
            <a:off x="1028700" y="729933"/>
            <a:ext cx="7232789" cy="563880"/>
          </a:xfrm>
          <a:prstGeom prst="rect">
            <a:avLst/>
          </a:prstGeom>
        </p:spPr>
        <p:txBody>
          <a:bodyPr anchor="t" rtlCol="false" tIns="0" lIns="0" bIns="0" rIns="0">
            <a:spAutoFit/>
          </a:bodyPr>
          <a:lstStyle/>
          <a:p>
            <a:pPr algn="l">
              <a:lnSpc>
                <a:spcPts val="4620"/>
              </a:lnSpc>
            </a:pPr>
            <a:r>
              <a:rPr lang="en-US" sz="3300">
                <a:solidFill>
                  <a:srgbClr val="FFEBEB"/>
                </a:solidFill>
                <a:latin typeface="Monterchi Sans"/>
                <a:ea typeface="Monterchi Sans"/>
                <a:cs typeface="Monterchi Sans"/>
                <a:sym typeface="Monterchi Sans"/>
              </a:rPr>
              <a:t>German University in Cairo | 2025</a:t>
            </a:r>
          </a:p>
        </p:txBody>
      </p:sp>
    </p:spTree>
  </p:cSld>
  <p:clrMapOvr>
    <a:masterClrMapping/>
  </p:clrMapOvr>
  <p:transition spd="fast">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DAGlpevkxcI</dc:identifier>
  <dcterms:modified xsi:type="dcterms:W3CDTF">2011-08-01T06:04:30Z</dcterms:modified>
  <cp:revision>1</cp:revision>
  <dc:title>Manuella Ehab</dc:title>
</cp:coreProperties>
</file>